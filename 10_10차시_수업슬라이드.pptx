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519bc51-f6cb-d32a-3b73-c16cbf64666f}">
          <p14:sldIdLst>
            <p14:sldId id="256"/>
          </p14:sldIdLst>
        </p14:section>
        <p14:section name="도입" id="{885283c0-8846-2738-cba9-f25a489f2027}">
          <p14:sldIdLst>
            <p14:sldId id="257"/>
            <p14:sldId id="258"/>
          </p14:sldIdLst>
        </p14:section>
        <p14:section name="전개" id="{e1753cc4-b599-48ad-25ac-b226d1b1bb75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정리" id="{943abdd5-250a-d7ee-df07-f3ebb4c3f4d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도입으로 넘어갑니다. 오늘은 캠페인을 완성해 공유하고 단원을 돌아봅니다. 모든 사례는 수업용 가상 사례입니다. 교과 교사 5인이 모둠을 나누어 순회합니다.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2분). 모둠이 9차시 기획서(대상·핵심 메시지·매체·역할)를 다시 읽습니다. 기획서가 없는 모둠은 교사 보관본으로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(2분). 학습문제를 제시하고 학습목표를 확인합니다. 잘 만든 작품 뽑기가 아니라 ‘정확하고 안전하게 전하기’가 기준임을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(5분, 사서교사). 활동지 1쪽. 이용 조건의 세부 규정은 단정하지 않고, 불확실하면 쓰지 않거나 교사에게 확인하게 합니다(확인 필요). 직접 그리거나 도형·아이콘으로 대신하도록 권장합니다. 특정 서비스·상호명은 문구에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(약 2분). 9차시 ‘좋은 캠페인의 조건 5가지’와 같은 기준입니다. 점검표(활동지 2쪽)에 그대로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(9분). 교과 교사 5인이 모둠을 나누어 순회하며 “이 메시지를 읽고 무엇을 하면 되나요?”를 묻습니다. 가상 사례만 쓰는지, 겁을 주는 표현이 없는지 살핍니다. 얼굴 사진이 나오는 자료는 그림이나 도형으로 대체하게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 (4분). 비난이 아니라 ‘더 좋아지게 하는 제안’을 쓰도록 안내합니다. 점검표 5번(출처)을 가장 꼼꼼히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(7분). 모둠 절반이 발표(약 3분)하고 나머지는 관람한 뒤 역할을 바꿉니다. 모든 산출물에는 출처가 적혀 있어야 공유할 수 있습니다. 개인정보·실제 사례·얼굴 사진이 없는지 확인합니다. 교내 게시·방송 공유는 학교 절차에 맞게 허락받을 수 있는 범위에서 합니다(확인 필요).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5 (4분). 8차시의 도움 창구 안내 카드와 우리 반 체크리스트, 도움 약속을 한 장으로 모아 게시할 내용을 정합니다. 도움 창구 번호는 게시 전에 해당 기관 누리집에서 최신 번호와 운영 시간을 확인합니다(확인 필요).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(7분). 정답 하나가 아니라 자기 변화의 구체성과 도구 활용을 봅니다. 걱정되는 일을 쓴 학생은 쉬는 시간 등에 개별 상담으로 연결합니다(학교 내 절차에 따름). 사전·사후 진단 설문을 실시하는 경우 이 차시를 활용할 수 있습니다(시기와 문항은 연구회 확인 필요).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(3분). 성찰 한두 명을 발표하고, 산출물과 우리 반 약속의 보관·게시 방법을 확인합니다. 단원을 마무리하며 모든 사례가 가상이었음을 다시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것을 나눌 시간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캠페인 완성과 공유</a:t>
            </a:r>
            <a:endParaRPr lang="en-US" sz="52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5교과 합동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10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순서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Today</a:t>
            </a:r>
            <a:endParaRPr lang="en-US" sz="2800" dirty="0"/>
          </a:p>
        </p:txBody>
      </p:sp>
      <p:sp>
        <p:nvSpPr>
          <p:cNvPr id="4" name="순서 카드 1"/>
          <p:cNvSpPr/>
          <p:nvPr/>
        </p:nvSpPr>
        <p:spPr>
          <a:xfrm>
            <a:off x="475488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기획서대로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완성</a:t>
            </a:r>
            <a:endParaRPr lang="en-US" sz="1200" dirty="0"/>
          </a:p>
        </p:txBody>
      </p:sp>
      <p:sp>
        <p:nvSpPr>
          <p:cNvPr id="8" name="순서 카드 2"/>
          <p:cNvSpPr/>
          <p:nvPr/>
        </p:nvSpPr>
        <p:spPr>
          <a:xfrm>
            <a:off x="2551176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34056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34056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기준으로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모둠과 점검</a:t>
            </a:r>
            <a:endParaRPr lang="en-US" sz="1200" dirty="0"/>
          </a:p>
        </p:txBody>
      </p:sp>
      <p:sp>
        <p:nvSpPr>
          <p:cNvPr id="12" name="순서 카드 3"/>
          <p:cNvSpPr/>
          <p:nvPr/>
        </p:nvSpPr>
        <p:spPr>
          <a:xfrm>
            <a:off x="4626864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9744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갤러리로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전시하고 나눠요</a:t>
            </a:r>
            <a:endParaRPr lang="en-US" sz="1200" dirty="0"/>
          </a:p>
        </p:txBody>
      </p:sp>
      <p:sp>
        <p:nvSpPr>
          <p:cNvPr id="16" name="순서 카드 4"/>
          <p:cNvSpPr/>
          <p:nvPr/>
        </p:nvSpPr>
        <p:spPr>
          <a:xfrm>
            <a:off x="6702552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85432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처음과 지금,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변화</a:t>
            </a:r>
            <a:endParaRPr lang="en-US" sz="1200" dirty="0"/>
          </a:p>
        </p:txBody>
      </p:sp>
      <p:sp>
        <p:nvSpPr>
          <p:cNvPr id="20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9차시 기획서를 다시 읽고, 오늘 마칠 부분을 1분 안에 정해요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메시지를 완성해 나누면</a:t>
            </a:r>
            <a:endParaRPr lang="en-US" sz="2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달라질까?</a:t>
            </a:r>
            <a:endParaRPr lang="en-US" sz="28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정확하고 안전하게 산출물을 만들어요.</a:t>
            </a:r>
            <a:endParaRPr lang="en-US" sz="14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나누기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점검하고 공유해요.</a:t>
            </a:r>
            <a:endParaRPr lang="en-US" sz="14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돌아보기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변화와 약속을 정리해요.</a:t>
            </a:r>
            <a:endParaRPr lang="en-US" sz="14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출처, 어떻게 쓸까요?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Credit</a:t>
            </a:r>
            <a:endParaRPr lang="en-US" sz="2800" dirty="0"/>
          </a:p>
        </p:txBody>
      </p:sp>
      <p:sp>
        <p:nvSpPr>
          <p:cNvPr id="4" name="출처 카드 1"/>
          <p:cNvSpPr/>
          <p:nvPr/>
        </p:nvSpPr>
        <p:spPr>
          <a:xfrm>
            <a:off x="47548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만든 것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“글·그림: ○모둠”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처럼 써요</a:t>
            </a:r>
            <a:endParaRPr lang="en-US" sz="1300" dirty="0"/>
          </a:p>
        </p:txBody>
      </p:sp>
      <p:sp>
        <p:nvSpPr>
          <p:cNvPr id="8" name="출처 카드 2"/>
          <p:cNvSpPr/>
          <p:nvPr/>
        </p:nvSpPr>
        <p:spPr>
          <a:xfrm>
            <a:off x="326440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가져온 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이름(제목) · 만든 사람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가져온 곳을 적어요</a:t>
            </a:r>
            <a:endParaRPr lang="en-US" sz="1300" dirty="0"/>
          </a:p>
        </p:txBody>
      </p:sp>
      <p:sp>
        <p:nvSpPr>
          <p:cNvPr id="12" name="출처 카드 3"/>
          <p:cNvSpPr/>
          <p:nvPr/>
        </p:nvSpPr>
        <p:spPr>
          <a:xfrm>
            <a:off x="6053328" y="123444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쓰지 않는 것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불분명한 자료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 사진, 실제 상호</a:t>
            </a:r>
            <a:endParaRPr lang="en-US" sz="1300" dirty="0"/>
          </a:p>
        </p:txBody>
      </p:sp>
      <p:sp>
        <p:nvSpPr>
          <p:cNvPr id="16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헷갈리는 자료는 쓰지 않고 선생님께 먼저 물어봐요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기준 5가지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Checklist</a:t>
            </a:r>
            <a:endParaRPr lang="en-US" sz="2800" dirty="0"/>
          </a:p>
        </p:txBody>
      </p:sp>
      <p:sp>
        <p:nvSpPr>
          <p:cNvPr id="4" name="기준 카드 1"/>
          <p:cNvSpPr/>
          <p:nvPr/>
        </p:nvSpPr>
        <p:spPr>
          <a:xfrm>
            <a:off x="475488" y="1234440"/>
            <a:ext cx="1550822" cy="2286000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12765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38528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정확하게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68880"/>
            <a:ext cx="12765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과장·단정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 않아요</a:t>
            </a:r>
            <a:endParaRPr lang="en-US" sz="1200" dirty="0"/>
          </a:p>
        </p:txBody>
      </p:sp>
      <p:sp>
        <p:nvSpPr>
          <p:cNvPr id="8" name="기준 카드 2"/>
          <p:cNvSpPr/>
          <p:nvPr/>
        </p:nvSpPr>
        <p:spPr>
          <a:xfrm>
            <a:off x="2136038" y="1234440"/>
            <a:ext cx="1550822" cy="2286000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18918" y="1371600"/>
            <a:ext cx="12765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318918" y="1938528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존중하며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18918" y="2468880"/>
            <a:ext cx="12765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사람·집단을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비난하지 않아요</a:t>
            </a:r>
            <a:endParaRPr lang="en-US" sz="1200" dirty="0"/>
          </a:p>
        </p:txBody>
      </p:sp>
      <p:sp>
        <p:nvSpPr>
          <p:cNvPr id="12" name="기준 카드 3"/>
          <p:cNvSpPr/>
          <p:nvPr/>
        </p:nvSpPr>
        <p:spPr>
          <a:xfrm>
            <a:off x="3796589" y="1234440"/>
            <a:ext cx="1550822" cy="2286000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9469" y="1371600"/>
            <a:ext cx="12765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979469" y="1938528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겁주지 않고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79469" y="2468880"/>
            <a:ext cx="12765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있는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행동을 알려요</a:t>
            </a:r>
            <a:endParaRPr lang="en-US" sz="1200" dirty="0"/>
          </a:p>
        </p:txBody>
      </p:sp>
      <p:sp>
        <p:nvSpPr>
          <p:cNvPr id="16" name="기준 카드 4"/>
          <p:cNvSpPr/>
          <p:nvPr/>
        </p:nvSpPr>
        <p:spPr>
          <a:xfrm>
            <a:off x="5457139" y="1234440"/>
            <a:ext cx="1550822" cy="2286000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40019" y="1371600"/>
            <a:ext cx="12765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640019" y="1938528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행동이 보여요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40019" y="2468880"/>
            <a:ext cx="12765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읽고 나서 할 일이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</a:t>
            </a:r>
            <a:endParaRPr lang="en-US" sz="1200" dirty="0"/>
          </a:p>
        </p:txBody>
      </p:sp>
      <p:sp>
        <p:nvSpPr>
          <p:cNvPr id="20" name="기준 카드 5"/>
          <p:cNvSpPr/>
          <p:nvPr/>
        </p:nvSpPr>
        <p:spPr>
          <a:xfrm>
            <a:off x="7117690" y="1234440"/>
            <a:ext cx="1550822" cy="2286000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00570" y="1371600"/>
            <a:ext cx="12765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300570" y="1938528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밝혀요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00570" y="2468880"/>
            <a:ext cx="127650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이미지·글꼴·음악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표기</a:t>
            </a:r>
            <a:endParaRPr lang="en-US" sz="1200" dirty="0"/>
          </a:p>
        </p:txBody>
      </p:sp>
      <p:sp>
        <p:nvSpPr>
          <p:cNvPr id="24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제작하는 동안, 그리고 공유하기 전에 이 5가지로 점검해요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모둠 제작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Make It</a:t>
            </a:r>
            <a:endParaRPr lang="en-US" sz="2800" dirty="0"/>
          </a:p>
        </p:txBody>
      </p:sp>
      <p:sp>
        <p:nvSpPr>
          <p:cNvPr id="4" name="역할 카드 1"/>
          <p:cNvSpPr/>
          <p:nvPr/>
        </p:nvSpPr>
        <p:spPr>
          <a:xfrm>
            <a:off x="47548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874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 한 문장</a:t>
            </a:r>
            <a:endParaRPr lang="en-US" sz="1400" dirty="0"/>
          </a:p>
        </p:txBody>
      </p:sp>
      <p:sp>
        <p:nvSpPr>
          <p:cNvPr id="7" name="역할 카드 2"/>
          <p:cNvSpPr/>
          <p:nvPr/>
        </p:nvSpPr>
        <p:spPr>
          <a:xfrm>
            <a:off x="280720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· 편집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874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눈에 띄는 배치</a:t>
            </a:r>
            <a:endParaRPr lang="en-US" sz="1400" dirty="0"/>
          </a:p>
        </p:txBody>
      </p:sp>
      <p:sp>
        <p:nvSpPr>
          <p:cNvPr id="10" name="역할 카드 3"/>
          <p:cNvSpPr/>
          <p:nvPr/>
        </p:nvSpPr>
        <p:spPr>
          <a:xfrm>
            <a:off x="47548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정리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적기</a:t>
            </a:r>
            <a:endParaRPr lang="en-US" sz="1400" dirty="0"/>
          </a:p>
        </p:txBody>
      </p:sp>
      <p:sp>
        <p:nvSpPr>
          <p:cNvPr id="13" name="역할 카드 4"/>
          <p:cNvSpPr/>
          <p:nvPr/>
        </p:nvSpPr>
        <p:spPr>
          <a:xfrm>
            <a:off x="280720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474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소개 준비</a:t>
            </a:r>
            <a:endParaRPr lang="en-US" sz="1400" dirty="0"/>
          </a:p>
        </p:txBody>
      </p:sp>
      <p:sp>
        <p:nvSpPr>
          <p:cNvPr id="16" name="미션 방법 카드"/>
          <p:cNvSpPr/>
          <p:nvPr/>
        </p:nvSpPr>
        <p:spPr>
          <a:xfrm>
            <a:off x="5212080" y="123444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미션 라벨"/>
          <p:cNvSpPr/>
          <p:nvPr/>
        </p:nvSpPr>
        <p:spPr>
          <a:xfrm>
            <a:off x="5468112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68112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1920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기획서대로 완성해요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넣기로 한 도구를 확인해요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도움 약속 한 줄 이상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모두 적어요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68112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9분 · 모둠 활동지(활동 1)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모둠 최종 점검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Final Check</a:t>
            </a:r>
            <a:endParaRPr lang="en-US" sz="2800" dirty="0"/>
          </a:p>
        </p:txBody>
      </p:sp>
      <p:sp>
        <p:nvSpPr>
          <p:cNvPr id="4" name="점검 카드"/>
          <p:cNvSpPr/>
          <p:nvPr/>
        </p:nvSpPr>
        <p:spPr>
          <a:xfrm>
            <a:off x="475488" y="1234440"/>
            <a:ext cx="4206240" cy="32004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점검표</a:t>
            </a:r>
            <a:endParaRPr lang="en-US" sz="1900" dirty="0"/>
          </a:p>
        </p:txBody>
      </p:sp>
      <p:sp>
        <p:nvSpPr>
          <p:cNvPr id="6" name="카드 구분선 1"/>
          <p:cNvSpPr/>
          <p:nvPr/>
        </p:nvSpPr>
        <p:spPr>
          <a:xfrm>
            <a:off x="777240" y="1920240"/>
            <a:ext cx="361188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정확한가?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존중하는가?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겁주지 않는가?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29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행동이 보이는가?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밝혔는가?</a:t>
            </a:r>
            <a:endParaRPr lang="en-US" sz="1400" dirty="0"/>
          </a:p>
        </p:txBody>
      </p:sp>
      <p:sp>
        <p:nvSpPr>
          <p:cNvPr id="17" name="화살표"/>
          <p:cNvSpPr/>
          <p:nvPr/>
        </p:nvSpPr>
        <p:spPr>
          <a:xfrm>
            <a:off x="4754880" y="2514600"/>
            <a:ext cx="274320" cy="548640"/>
          </a:xfrm>
          <a:prstGeom prst="chevron">
            <a:avLst/>
          </a:prstGeom>
          <a:solidFill>
            <a:srgbClr val="FF9E7A"/>
          </a:solidFill>
          <a:ln w="12700">
            <a:solidFill>
              <a:srgbClr val="FF9E7A"/>
            </a:solidFill>
            <a:prstDash val="solid"/>
          </a:ln>
        </p:spPr>
      </p:sp>
      <p:sp>
        <p:nvSpPr>
          <p:cNvPr id="18" name="방법 카드"/>
          <p:cNvSpPr/>
          <p:nvPr/>
        </p:nvSpPr>
        <p:spPr>
          <a:xfrm>
            <a:off x="5120640" y="1234440"/>
            <a:ext cx="354787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9" name="방법 라벨"/>
          <p:cNvSpPr/>
          <p:nvPr/>
        </p:nvSpPr>
        <p:spPr>
          <a:xfrm>
            <a:off x="5394960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0116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짝 모둠과 산출물을 바꿔요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△를 표시해요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제안을 한 줄 써요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제안으로 한 곳을 고쳐요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 · 활동지(활동 2)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갤러리 공유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Gallery</a:t>
            </a:r>
            <a:endParaRPr lang="en-US" sz="2800" dirty="0"/>
          </a:p>
        </p:txBody>
      </p:sp>
      <p:sp>
        <p:nvSpPr>
          <p:cNvPr id="4" name="역할 카드 A"/>
          <p:cNvSpPr/>
          <p:nvPr/>
        </p:nvSpPr>
        <p:spPr>
          <a:xfrm>
            <a:off x="475488" y="123444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라벨 A"/>
          <p:cNvSpPr/>
          <p:nvPr/>
        </p:nvSpPr>
        <p:spPr>
          <a:xfrm>
            <a:off x="704088" y="14173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모둠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· 대상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 · 행동</a:t>
            </a:r>
            <a:endParaRPr lang="en-US" sz="1200" dirty="0"/>
          </a:p>
        </p:txBody>
      </p:sp>
      <p:sp>
        <p:nvSpPr>
          <p:cNvPr id="9" name="역할 카드 B"/>
          <p:cNvSpPr/>
          <p:nvPr/>
        </p:nvSpPr>
        <p:spPr>
          <a:xfrm>
            <a:off x="2807208" y="123444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라벨 B"/>
          <p:cNvSpPr/>
          <p:nvPr/>
        </p:nvSpPr>
        <p:spPr>
          <a:xfrm>
            <a:off x="3035808" y="14173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5808" y="1417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모둠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24231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돌아보며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남기기</a:t>
            </a:r>
            <a:endParaRPr lang="en-US" sz="1200" dirty="0"/>
          </a:p>
        </p:txBody>
      </p:sp>
      <p:sp>
        <p:nvSpPr>
          <p:cNvPr id="14" name="관람 방법 카드"/>
          <p:cNvSpPr/>
          <p:nvPr/>
        </p:nvSpPr>
        <p:spPr>
          <a:xfrm>
            <a:off x="5212080" y="1234440"/>
            <a:ext cx="345643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5" name="관람 라벨"/>
          <p:cNvSpPr/>
          <p:nvPr/>
        </p:nvSpPr>
        <p:spPr>
          <a:xfrm>
            <a:off x="5468112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68112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68112" y="1920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좋았던 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실천할 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 시간이 지나면 역할을 바꿔요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· 활동지(활동 3)</a:t>
            </a:r>
            <a:endParaRPr lang="en-US" sz="1300" dirty="0"/>
          </a:p>
        </p:txBody>
      </p:sp>
      <p:sp>
        <p:nvSpPr>
          <p:cNvPr id="19" name="확인 배너"/>
          <p:cNvSpPr/>
          <p:nvPr/>
        </p:nvSpPr>
        <p:spPr>
          <a:xfrm>
            <a:off x="475488" y="3611880"/>
            <a:ext cx="4526280" cy="822960"/>
          </a:xfrm>
          <a:prstGeom prst="roundRect">
            <a:avLst>
              <a:gd name="adj" fmla="val 1111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" y="3611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표기와 가상 사례를 마지막으로 확인해요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약속 게시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Wall</a:t>
            </a:r>
            <a:endParaRPr lang="en-US" sz="2800" dirty="0"/>
          </a:p>
        </p:txBody>
      </p:sp>
      <p:sp>
        <p:nvSpPr>
          <p:cNvPr id="4" name="게시 카드 1"/>
          <p:cNvSpPr/>
          <p:nvPr/>
        </p:nvSpPr>
        <p:spPr>
          <a:xfrm>
            <a:off x="475488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5문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</a:t>
            </a:r>
            <a:endParaRPr lang="en-US" sz="1200" dirty="0"/>
          </a:p>
        </p:txBody>
      </p:sp>
      <p:sp>
        <p:nvSpPr>
          <p:cNvPr id="8" name="게시 카드 2"/>
          <p:cNvSpPr/>
          <p:nvPr/>
        </p:nvSpPr>
        <p:spPr>
          <a:xfrm>
            <a:off x="2551176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34056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4단계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34056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멈추기 · 남기기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알리기 · 도움받기</a:t>
            </a:r>
            <a:endParaRPr lang="en-US" sz="1200" dirty="0"/>
          </a:p>
        </p:txBody>
      </p:sp>
      <p:sp>
        <p:nvSpPr>
          <p:cNvPr id="12" name="게시 카드 3"/>
          <p:cNvSpPr/>
          <p:nvPr/>
        </p:nvSpPr>
        <p:spPr>
          <a:xfrm>
            <a:off x="4626864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9744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 약속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비난하지 않기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비밀로 하지 않기</a:t>
            </a:r>
            <a:endParaRPr lang="en-US" sz="1200" dirty="0"/>
          </a:p>
        </p:txBody>
      </p:sp>
      <p:sp>
        <p:nvSpPr>
          <p:cNvPr id="16" name="게시 카드 4"/>
          <p:cNvSpPr/>
          <p:nvPr/>
        </p:nvSpPr>
        <p:spPr>
          <a:xfrm>
            <a:off x="6702552" y="12344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85432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 창구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담임·보건·상담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밖의 창구</a:t>
            </a:r>
            <a:endParaRPr lang="en-US" sz="1200" dirty="0"/>
          </a:p>
        </p:txBody>
      </p:sp>
      <p:sp>
        <p:nvSpPr>
          <p:cNvPr id="20" name="결론 배너"/>
          <p:cNvSpPr/>
          <p:nvPr/>
        </p:nvSpPr>
        <p:spPr>
          <a:xfrm>
            <a:off x="475488" y="3749040"/>
            <a:ext cx="8193024" cy="6858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" y="3749040"/>
            <a:ext cx="8193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모아 교실에 붙여요. 고칠 곳을 한 곳 정해요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변화 돌아보기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Reflection</a:t>
            </a:r>
            <a:endParaRPr lang="en-US" sz="2800" dirty="0"/>
          </a:p>
        </p:txBody>
      </p:sp>
      <p:sp>
        <p:nvSpPr>
          <p:cNvPr id="4" name="성찰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성찰 라벨"/>
          <p:cNvSpPr/>
          <p:nvPr/>
        </p:nvSpPr>
        <p:spPr>
          <a:xfrm>
            <a:off x="77724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→ 지금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처음에 나는 ~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나는 ~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도움이 된 도구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지킬 약속 한 가지</a:t>
            </a:r>
            <a:endParaRPr lang="en-US" sz="1600" dirty="0"/>
          </a:p>
        </p:txBody>
      </p:sp>
      <p:sp>
        <p:nvSpPr>
          <p:cNvPr id="8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방법 라벨"/>
          <p:cNvSpPr/>
          <p:nvPr/>
        </p:nvSpPr>
        <p:spPr>
          <a:xfrm>
            <a:off x="5120640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116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 장면으로 써요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1~9차시 도구 중에서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모둠 협력도 돌아봐요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· 개인 성찰지(활동 4)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만나면 나는 먼저 무엇을 할까?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문제가 생기면 누구에게 말할까?</a:t>
            </a:r>
            <a:endParaRPr lang="en-US" sz="36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 · 10차시 완료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고마워요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10차시</dc:title>
  <dc:subject>PptxGenJS Presentation</dc:subject>
  <dc:creator>오색렌즈 교사연구회</dc:creator>
  <cp:lastModifiedBy>오색렌즈 교사연구회</cp:lastModifiedBy>
  <cp:revision>1</cp:revision>
  <dcterms:created xsi:type="dcterms:W3CDTF">2026-10-13T04:37:54Z</dcterms:created>
  <dcterms:modified xsi:type="dcterms:W3CDTF">2026-10-13T04:37:54Z</dcterms:modified>
</cp:coreProperties>
</file>