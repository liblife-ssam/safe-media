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표지" id="{cb272462-b2a9-e2d0-87ed-a3ab37c38c6b}">
          <p14:sldIdLst>
            <p14:sldId id="256"/>
          </p14:sldIdLst>
        </p14:section>
        <p14:section name="도입" id="{a16c8ddf-21a5-0f2e-998f-3525c54c3d1f}">
          <p14:sldIdLst>
            <p14:sldId id="257"/>
            <p14:sldId id="258"/>
            <p14:sldId id="259"/>
          </p14:sldIdLst>
        </p14:section>
        <p14:section name="전개" id="{8d43de82-ba23-9312-3d10-a3ddcf212d32}">
          <p14:sldIdLst>
            <p14:sldId id="260"/>
            <p14:sldId id="261"/>
            <p14:sldId id="262"/>
            <p14:sldId id="263"/>
            <p14:sldId id="264"/>
          </p14:sldIdLst>
        </p14:section>
        <p14:section name="정리" id="{bc3d8040-5325-a4cb-54b0-efca89757a6e}">
          <p14:sldIdLst>
            <p14:sldId id="265"/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인사 후 웹앱 접속 안내로 넘어갑니다. 1인 1대 태블릿 접속을 미리 시험해 두고, 접속 장애에 대비해 종이 활동지(4차시_학생활동지_종이대체본)를 준비합니다.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도입 (4분 중 약 2분). QR 이미지와 수업 코드는 수업 직전에 넣거나 칠판에 적습니다(이 장에는 주소를 넣지 않았습니다). 학교 절차와 개인정보 안내를 사전에 준비하고, 입력이 어려운 학생을 돕습니다.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도입 (약 2분). 3차시의 추천 점수 규칙과 정보 5문을 떠올립니다. 오늘은 ② 근거(빠진 정보), ③ 의도, ④ 표현, ⑤ 재확인을 주로 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도입 (2분). 추천 화면(피드)을 영상·게시물이 줄줄이 보이는 화면으로 설명합니다. 순서: 추천 실험 → 광고 단서 찾기 → 결과 제출. 짝과 의논할 수 있으나 응답은 각자 작성합니다. 게임 속도·하트 개수 경쟁은 없습니다.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전개 (활동 1, 4분). 실제 영상 재생이 아닌 가상 썸네일 선택입니다. 추천은 주제별 좋아요 개수로 정렬하며 선택 시간순이 아닙니다. 이 웹앱은 좋아요 개수만 쓰는 단순화 모형이며 3차시의 점수 규칙(끝까지 봄·공유 등)보다 단순하다고 밝힙니다. 실제 서비스는 더 다양한 신호를 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전개 (활동 1, 6분). 동점은 카드 번호순이고 같은 주제의 미선택 카드도 함께 올라옵니다. 순서가 유지되는 것(1·1·1)도 유효한 결과입니다. 마지막 실험이 저장됩니다. 교사 참고: 추천 순서는 내 관심 기록에 따른 것이며 정보의 정확성·안전성을 말해 주지 않습니다.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전개 (활동 2, 8분). 룰렛은 고정된 1회 연출입니다. 사건을 바꾸면 쓴 답이 초기화됩니다. 사건 설정(웹앱 기준 요지): ① 룰렛은 무료 쿠폰, 회전, 연락처 요구, 조건 확인의 순서. ② 후기와 ③ 체험은 제품·체험 정보 버튼으로 탐색. 접속이 어려우면 종이 활동지 2쪽 사건 카드를 씁니다(종이 사건 카드는 앱 화면의 요지를 바탕으로 새로 쓴 대체본이므로 앱 화면과 문구가 다를 수 있음).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전개 (활동 2, 8분). 단서 2개 이상을 고르고 목적·설득 방식·누락정보·확인 방법·판단을 씁니다. 룰렛이나 협찬 자체가 거짓·불법의 증거는 아니므로, 그림이나 선물이 아니라 숨은 조건과 누락정보로 판단하도록 안내합니다. 교사 순회 발문: “무료인데 왜 연락처를 물을까?” “작은 글씨에는 무엇이 적혀 있지?”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전개 (활동 2, 해설 비교·공유 6분). 이 장은 학생에게 바로 보여 주지 않고 앱의 해설과 학생 응답을 비교한 뒤 정리용으로 씁니다. 해설은 정답 하나가 아니라 단서를 찾는 예시입니다. 위 단서는 활동지 사건 카드 기준이며, 웹앱 해설 화면의 문구와 다르면 앱 기준으로 고쳐 쓰세요.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정리 (5분). 가장 결정적인 단서 1개와 판단에 맞는 확인 방법·행동 1개를 쓰고 제출합니다. 2~3명이 발표하고 사건별 판단 분포를 교사 메뉴 화면에서 함께 봅니다. 교사 메뉴로 분리표·평가표를 갱신합니다. 이 제출은 수업에서 직접 다룬 사건에 대한 것이므로 새로운 상황으로의 전이 평가로 해석하지 않습니다(전이는 5차시 활동 4에서 확인).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정리 (2분). 완료 화면을 확인하고 “추천은 관심 기록, 신뢰성은 출처와 근거로 확인한다”를 구두로 정리합니다(앱 저장 항목이 아님). 5차시에서 활동 3 안전 화면 설계와 활동 4 개별 판단을 예고합니다.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FRAME-image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RAME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70732" y="246888"/>
            <a:ext cx="20025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유해정보 리터러시</a:t>
            </a:r>
            <a:endParaRPr lang="en-US" sz="12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30936" y="566928"/>
            <a:ext cx="786384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3333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18872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77777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미디어 수사대 ①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874520"/>
            <a:ext cx="7863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26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광고의 숨은 조건을 찾아라</a:t>
            </a:r>
            <a:endParaRPr lang="en-US" sz="4800" dirty="0"/>
          </a:p>
        </p:txBody>
      </p:sp>
      <p:sp>
        <p:nvSpPr>
          <p:cNvPr id="4" name="정보 바"/>
          <p:cNvSpPr/>
          <p:nvPr/>
        </p:nvSpPr>
        <p:spPr>
          <a:xfrm>
            <a:off x="1828800" y="3268980"/>
            <a:ext cx="5486400" cy="530352"/>
          </a:xfrm>
          <a:prstGeom prst="rect">
            <a:avLst/>
          </a:prstGeom>
          <a:solidFill>
            <a:srgbClr val="F3F3F3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5" name="정보 바 구분선"/>
          <p:cNvSpPr/>
          <p:nvPr/>
        </p:nvSpPr>
        <p:spPr>
          <a:xfrm>
            <a:off x="4572000" y="3410712"/>
            <a:ext cx="0" cy="246888"/>
          </a:xfrm>
          <a:prstGeom prst="line">
            <a:avLst/>
          </a:prstGeom>
          <a:noFill/>
          <a:ln w="12700">
            <a:solidFill>
              <a:srgbClr val="77777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057400" y="3268980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교과  </a:t>
            </a:r>
            <a:pPr indent="0" marL="0">
              <a:buNone/>
            </a:pPr>
            <a:r>
              <a:rPr lang="en-US" sz="1500" dirty="0">
                <a:solidFill>
                  <a:srgbClr val="77777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기술·가정 (기술 영역)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4846320" y="3268980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차시  </a:t>
            </a:r>
            <a:pPr indent="0" marL="0">
              <a:buNone/>
            </a:pPr>
            <a:r>
              <a:rPr lang="en-US" sz="1500" dirty="0">
                <a:solidFill>
                  <a:srgbClr val="77777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 / 10 · 45분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475488" y="44348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Lesson 04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309360" y="44348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오색렌즈 교사연구회</a:t>
            </a:r>
            <a:endParaRPr lang="en-US" sz="1200" dirty="0"/>
          </a:p>
        </p:txBody>
      </p:sp>
      <p:sp>
        <p:nvSpPr>
          <p:cNvPr id="11" name="Text 1"/>
          <p:cNvSpPr/>
          <p:nvPr>
            <p:ph idx="101" type="title" hasCustomPrompt="1"/>
          </p:nvPr>
        </p:nvSpPr>
        <p:spPr>
          <a:xfrm>
            <a:off x="630936" y="566928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표식"/>
          <p:cNvSpPr/>
          <p:nvPr/>
        </p:nvSpPr>
        <p:spPr>
          <a:xfrm>
            <a:off x="480060" y="708660"/>
            <a:ext cx="36576" cy="173736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30936" y="566928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수사대에 접속해요</a:t>
            </a:r>
            <a:pPr algn="l" indent="0" marL="0">
              <a:buNone/>
            </a:pPr>
            <a:r>
              <a:rPr lang="en-US" sz="1400" b="1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Log In</a:t>
            </a:r>
            <a:endParaRPr lang="en-US" sz="2800" dirty="0"/>
          </a:p>
        </p:txBody>
      </p:sp>
      <p:sp>
        <p:nvSpPr>
          <p:cNvPr id="4" name="QR 카드"/>
          <p:cNvSpPr/>
          <p:nvPr/>
        </p:nvSpPr>
        <p:spPr>
          <a:xfrm>
            <a:off x="475488" y="1234440"/>
            <a:ext cx="2926080" cy="3200400"/>
          </a:xfrm>
          <a:prstGeom prst="roundRect">
            <a:avLst>
              <a:gd name="adj" fmla="val 4375"/>
            </a:avLst>
          </a:prstGeom>
          <a:solidFill>
            <a:srgbClr val="F3F3F3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5" name="QR 라벨"/>
          <p:cNvSpPr/>
          <p:nvPr/>
        </p:nvSpPr>
        <p:spPr>
          <a:xfrm>
            <a:off x="731520" y="1417320"/>
            <a:ext cx="1188720" cy="329184"/>
          </a:xfrm>
          <a:prstGeom prst="roundRect">
            <a:avLst>
              <a:gd name="adj" fmla="val 22222"/>
            </a:avLst>
          </a:prstGeom>
          <a:solidFill>
            <a:srgbClr val="FDEBE1"/>
          </a:solidFill>
          <a:ln w="12700">
            <a:solidFill>
              <a:srgbClr val="FDEBE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417320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6B3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QR · 링크</a:t>
            </a:r>
            <a:endParaRPr lang="en-US" sz="1200" dirty="0"/>
          </a:p>
        </p:txBody>
      </p:sp>
      <p:sp>
        <p:nvSpPr>
          <p:cNvPr id="7" name="QR 자리"/>
          <p:cNvSpPr/>
          <p:nvPr/>
        </p:nvSpPr>
        <p:spPr>
          <a:xfrm>
            <a:off x="868680" y="1920240"/>
            <a:ext cx="210312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5875">
            <a:solidFill>
              <a:srgbClr val="C9C9C9"/>
            </a:solidFill>
            <a:prstDash val="dash"/>
          </a:ln>
        </p:spPr>
      </p:sp>
      <p:sp>
        <p:nvSpPr>
          <p:cNvPr id="8" name="Text 6"/>
          <p:cNvSpPr txBox="1"/>
          <p:nvPr/>
        </p:nvSpPr>
        <p:spPr>
          <a:xfrm>
            <a:off x="868680" y="1920240"/>
            <a:ext cx="2103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QR 이미지를 넣어요</a:t>
            </a:r>
            <a:endParaRPr lang="en-US" sz="1300" dirty="0"/>
          </a:p>
        </p:txBody>
      </p:sp>
      <p:sp>
        <p:nvSpPr>
          <p:cNvPr id="9" name="접속 방법 카드"/>
          <p:cNvSpPr/>
          <p:nvPr/>
        </p:nvSpPr>
        <p:spPr>
          <a:xfrm>
            <a:off x="3657600" y="1234440"/>
            <a:ext cx="5010912" cy="3200400"/>
          </a:xfrm>
          <a:prstGeom prst="roundRect">
            <a:avLst>
              <a:gd name="adj" fmla="val 3429"/>
            </a:avLst>
          </a:prstGeom>
          <a:solidFill>
            <a:srgbClr val="FDEBE1"/>
          </a:solidFill>
          <a:ln w="22225">
            <a:solidFill>
              <a:srgbClr val="FF6B35"/>
            </a:solidFill>
            <a:prstDash val="dash"/>
          </a:ln>
        </p:spPr>
      </p:sp>
      <p:sp>
        <p:nvSpPr>
          <p:cNvPr id="10" name="접속 라벨"/>
          <p:cNvSpPr/>
          <p:nvPr/>
        </p:nvSpPr>
        <p:spPr>
          <a:xfrm>
            <a:off x="3931920" y="1417320"/>
            <a:ext cx="822960" cy="329184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931920" y="1417320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6B3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STEP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3931920" y="1920240"/>
            <a:ext cx="4572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QR 또는 링크로 접속해요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수업 코드:  ______ (칠판에 적어요)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안내를 읽고 학교·학년·반·이름만 입력해요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계정과 검색 기록은 수집하지 않아요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3931920" y="384048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3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접속이 안 되면 종이 활동지로 해요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표식"/>
          <p:cNvSpPr/>
          <p:nvPr/>
        </p:nvSpPr>
        <p:spPr>
          <a:xfrm>
            <a:off x="480060" y="708660"/>
            <a:ext cx="36576" cy="173736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30936" y="566928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정보 5문, 오늘은 수사 도구</a:t>
            </a:r>
            <a:pPr algn="l" indent="0" marL="0">
              <a:buNone/>
            </a:pPr>
            <a:r>
              <a:rPr lang="en-US" sz="1400" b="1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Review</a:t>
            </a:r>
            <a:endParaRPr lang="en-US" sz="2800" dirty="0"/>
          </a:p>
        </p:txBody>
      </p:sp>
      <p:sp>
        <p:nvSpPr>
          <p:cNvPr id="4" name="체크 카드 1"/>
          <p:cNvSpPr/>
          <p:nvPr/>
        </p:nvSpPr>
        <p:spPr>
          <a:xfrm>
            <a:off x="475488" y="1234440"/>
            <a:ext cx="1572768" cy="2331720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5875">
            <a:solidFill>
              <a:srgbClr val="C9C9C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37160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8745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240280"/>
            <a:ext cx="1325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누가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만들었나?</a:t>
            </a:r>
            <a:endParaRPr lang="en-US" sz="1500" dirty="0"/>
          </a:p>
        </p:txBody>
      </p:sp>
      <p:sp>
        <p:nvSpPr>
          <p:cNvPr id="8" name="강조 카드 2"/>
          <p:cNvSpPr/>
          <p:nvPr/>
        </p:nvSpPr>
        <p:spPr>
          <a:xfrm>
            <a:off x="2130552" y="1234440"/>
            <a:ext cx="1572768" cy="2331720"/>
          </a:xfrm>
          <a:prstGeom prst="roundRect">
            <a:avLst>
              <a:gd name="adj" fmla="val 6977"/>
            </a:avLst>
          </a:prstGeom>
          <a:solidFill>
            <a:srgbClr val="FDEBE1"/>
          </a:solidFill>
          <a:ln w="25400">
            <a:solidFill>
              <a:srgbClr val="FF6B3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295144" y="137160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6B3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2800" dirty="0"/>
          </a:p>
        </p:txBody>
      </p:sp>
      <p:sp>
        <p:nvSpPr>
          <p:cNvPr id="10" name="Text 8"/>
          <p:cNvSpPr txBox="1"/>
          <p:nvPr/>
        </p:nvSpPr>
        <p:spPr>
          <a:xfrm>
            <a:off x="2295144" y="18745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3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근거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2295144" y="2240280"/>
            <a:ext cx="1325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근거가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있나?</a:t>
            </a:r>
            <a:endParaRPr lang="en-US" sz="1500" dirty="0"/>
          </a:p>
        </p:txBody>
      </p:sp>
      <p:sp>
        <p:nvSpPr>
          <p:cNvPr id="12" name="강조 카드 3"/>
          <p:cNvSpPr/>
          <p:nvPr/>
        </p:nvSpPr>
        <p:spPr>
          <a:xfrm>
            <a:off x="3785616" y="1234440"/>
            <a:ext cx="1572768" cy="2331720"/>
          </a:xfrm>
          <a:prstGeom prst="roundRect">
            <a:avLst>
              <a:gd name="adj" fmla="val 6977"/>
            </a:avLst>
          </a:prstGeom>
          <a:solidFill>
            <a:srgbClr val="FDEBE1"/>
          </a:solidFill>
          <a:ln w="25400">
            <a:solidFill>
              <a:srgbClr val="FF6B3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950208" y="137160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6B3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2800" dirty="0"/>
          </a:p>
        </p:txBody>
      </p:sp>
      <p:sp>
        <p:nvSpPr>
          <p:cNvPr id="14" name="Text 12"/>
          <p:cNvSpPr txBox="1"/>
          <p:nvPr/>
        </p:nvSpPr>
        <p:spPr>
          <a:xfrm>
            <a:off x="3950208" y="18745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3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의도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3950208" y="2240280"/>
            <a:ext cx="1325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무엇을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원하나?</a:t>
            </a:r>
            <a:endParaRPr lang="en-US" sz="1500" dirty="0"/>
          </a:p>
        </p:txBody>
      </p:sp>
      <p:sp>
        <p:nvSpPr>
          <p:cNvPr id="16" name="강조 카드 4"/>
          <p:cNvSpPr/>
          <p:nvPr/>
        </p:nvSpPr>
        <p:spPr>
          <a:xfrm>
            <a:off x="5440680" y="1234440"/>
            <a:ext cx="1572768" cy="2331720"/>
          </a:xfrm>
          <a:prstGeom prst="roundRect">
            <a:avLst>
              <a:gd name="adj" fmla="val 6977"/>
            </a:avLst>
          </a:prstGeom>
          <a:solidFill>
            <a:srgbClr val="FDEBE1"/>
          </a:solidFill>
          <a:ln w="25400">
            <a:solidFill>
              <a:srgbClr val="FF6B3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605272" y="137160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6B3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2800" dirty="0"/>
          </a:p>
        </p:txBody>
      </p:sp>
      <p:sp>
        <p:nvSpPr>
          <p:cNvPr id="18" name="Text 16"/>
          <p:cNvSpPr txBox="1"/>
          <p:nvPr/>
        </p:nvSpPr>
        <p:spPr>
          <a:xfrm>
            <a:off x="5605272" y="18745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3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표현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5605272" y="2240280"/>
            <a:ext cx="1325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어떻게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말하고 있나?</a:t>
            </a:r>
            <a:endParaRPr lang="en-US" sz="1500" dirty="0"/>
          </a:p>
        </p:txBody>
      </p:sp>
      <p:sp>
        <p:nvSpPr>
          <p:cNvPr id="20" name="강조 카드 5"/>
          <p:cNvSpPr/>
          <p:nvPr/>
        </p:nvSpPr>
        <p:spPr>
          <a:xfrm>
            <a:off x="7095744" y="1234440"/>
            <a:ext cx="1572768" cy="2331720"/>
          </a:xfrm>
          <a:prstGeom prst="roundRect">
            <a:avLst>
              <a:gd name="adj" fmla="val 6977"/>
            </a:avLst>
          </a:prstGeom>
          <a:solidFill>
            <a:srgbClr val="FDEBE1"/>
          </a:solidFill>
          <a:ln w="25400">
            <a:solidFill>
              <a:srgbClr val="FF6B3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260336" y="137160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6B3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</a:t>
            </a:r>
            <a:endParaRPr lang="en-US" sz="2800" dirty="0"/>
          </a:p>
        </p:txBody>
      </p:sp>
      <p:sp>
        <p:nvSpPr>
          <p:cNvPr id="22" name="Text 20"/>
          <p:cNvSpPr txBox="1"/>
          <p:nvPr/>
        </p:nvSpPr>
        <p:spPr>
          <a:xfrm>
            <a:off x="7260336" y="18745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3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재확인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7260336" y="2240280"/>
            <a:ext cx="1325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다른 곳에서도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확인되나?</a:t>
            </a:r>
            <a:endParaRPr lang="en-US" sz="1500" dirty="0"/>
          </a:p>
        </p:txBody>
      </p:sp>
      <p:sp>
        <p:nvSpPr>
          <p:cNvPr id="24" name="배너"/>
          <p:cNvSpPr/>
          <p:nvPr/>
        </p:nvSpPr>
        <p:spPr>
          <a:xfrm>
            <a:off x="475488" y="3794760"/>
            <a:ext cx="8193024" cy="640080"/>
          </a:xfrm>
          <a:prstGeom prst="roundRect">
            <a:avLst>
              <a:gd name="adj" fmla="val 14286"/>
            </a:avLst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75488" y="3794760"/>
            <a:ext cx="8193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“내가 보는 정보는 왜 보이며, 무엇을 근거로 믿어야 할까?”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828800" y="365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8A8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Learning Question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85800"/>
            <a:ext cx="7863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2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좋아요는 추천 화면을 어떻게 바꾸고,</a:t>
            </a:r>
            <a:endParaRPr lang="en-US" sz="26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2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광고의 숨은 조건은 어떻게 찾을까?</a:t>
            </a:r>
            <a:endParaRPr lang="en-US" sz="2600" dirty="0"/>
          </a:p>
        </p:txBody>
      </p:sp>
      <p:sp>
        <p:nvSpPr>
          <p:cNvPr id="4" name="목표 카드 1"/>
          <p:cNvSpPr/>
          <p:nvPr/>
        </p:nvSpPr>
        <p:spPr>
          <a:xfrm>
            <a:off x="237744" y="2103120"/>
            <a:ext cx="2830068" cy="256032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37744" y="2240280"/>
            <a:ext cx="28300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6B3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실험하기</a:t>
            </a:r>
            <a:endParaRPr lang="en-US" sz="2200" dirty="0"/>
          </a:p>
        </p:txBody>
      </p:sp>
      <p:sp>
        <p:nvSpPr>
          <p:cNvPr id="6" name="카드 구분선 1"/>
          <p:cNvSpPr/>
          <p:nvPr/>
        </p:nvSpPr>
        <p:spPr>
          <a:xfrm>
            <a:off x="512064" y="2834640"/>
            <a:ext cx="2281428" cy="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</p:sp>
      <p:sp>
        <p:nvSpPr>
          <p:cNvPr id="7" name="체크 1"/>
          <p:cNvSpPr/>
          <p:nvPr/>
        </p:nvSpPr>
        <p:spPr>
          <a:xfrm>
            <a:off x="512064" y="3108960"/>
            <a:ext cx="329184" cy="32918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F6B35"/>
            </a:solidFill>
            <a:prstDash val="solid"/>
          </a:ln>
        </p:spPr>
      </p:sp>
      <p:sp>
        <p:nvSpPr>
          <p:cNvPr id="8" name="체크 1 획1"/>
          <p:cNvSpPr/>
          <p:nvPr/>
        </p:nvSpPr>
        <p:spPr>
          <a:xfrm>
            <a:off x="600944" y="3273552"/>
            <a:ext cx="59253" cy="65837"/>
          </a:xfrm>
          <a:prstGeom prst="line">
            <a:avLst/>
          </a:prstGeom>
          <a:noFill/>
          <a:ln w="25400">
            <a:solidFill>
              <a:srgbClr val="FF6B35"/>
            </a:solidFill>
            <a:prstDash val="solid"/>
          </a:ln>
        </p:spPr>
      </p:sp>
      <p:sp>
        <p:nvSpPr>
          <p:cNvPr id="9" name="체크 1 획2"/>
          <p:cNvSpPr/>
          <p:nvPr/>
        </p:nvSpPr>
        <p:spPr>
          <a:xfrm flipV="1">
            <a:off x="660197" y="3207715"/>
            <a:ext cx="92172" cy="131674"/>
          </a:xfrm>
          <a:prstGeom prst="line">
            <a:avLst/>
          </a:prstGeom>
          <a:noFill/>
          <a:ln w="25400">
            <a:solidFill>
              <a:srgbClr val="FF6B3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69264" y="301752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좋아요 3개로 추천 화면이 바뀌는 걸 확인해요.</a:t>
            </a:r>
            <a:endParaRPr lang="en-US" sz="1400" dirty="0"/>
          </a:p>
        </p:txBody>
      </p:sp>
      <p:sp>
        <p:nvSpPr>
          <p:cNvPr id="11" name="목표 번호 1"/>
          <p:cNvSpPr/>
          <p:nvPr/>
        </p:nvSpPr>
        <p:spPr>
          <a:xfrm>
            <a:off x="512064" y="4114800"/>
            <a:ext cx="1371600" cy="329184"/>
          </a:xfrm>
          <a:prstGeom prst="roundRect">
            <a:avLst>
              <a:gd name="adj" fmla="val 22222"/>
            </a:avLst>
          </a:prstGeom>
          <a:solidFill>
            <a:srgbClr val="FDEBE1"/>
          </a:solidFill>
          <a:ln w="12700">
            <a:solidFill>
              <a:srgbClr val="FDEBE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12064" y="411480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6B3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OBJECTIVE 01</a:t>
            </a:r>
            <a:endParaRPr lang="en-US" sz="1200" dirty="0"/>
          </a:p>
        </p:txBody>
      </p:sp>
      <p:sp>
        <p:nvSpPr>
          <p:cNvPr id="13" name="목표 카드 2"/>
          <p:cNvSpPr/>
          <p:nvPr/>
        </p:nvSpPr>
        <p:spPr>
          <a:xfrm>
            <a:off x="3154680" y="2103120"/>
            <a:ext cx="2830068" cy="256032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154680" y="2240280"/>
            <a:ext cx="28300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6B3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수사하기</a:t>
            </a:r>
            <a:endParaRPr lang="en-US" sz="2200" dirty="0"/>
          </a:p>
        </p:txBody>
      </p:sp>
      <p:sp>
        <p:nvSpPr>
          <p:cNvPr id="15" name="카드 구분선 2"/>
          <p:cNvSpPr/>
          <p:nvPr/>
        </p:nvSpPr>
        <p:spPr>
          <a:xfrm>
            <a:off x="3429000" y="2834640"/>
            <a:ext cx="2281428" cy="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</p:sp>
      <p:sp>
        <p:nvSpPr>
          <p:cNvPr id="16" name="체크 2"/>
          <p:cNvSpPr/>
          <p:nvPr/>
        </p:nvSpPr>
        <p:spPr>
          <a:xfrm>
            <a:off x="3429000" y="3108960"/>
            <a:ext cx="329184" cy="32918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F6B35"/>
            </a:solidFill>
            <a:prstDash val="solid"/>
          </a:ln>
        </p:spPr>
      </p:sp>
      <p:sp>
        <p:nvSpPr>
          <p:cNvPr id="17" name="체크 2 획1"/>
          <p:cNvSpPr/>
          <p:nvPr/>
        </p:nvSpPr>
        <p:spPr>
          <a:xfrm>
            <a:off x="3517880" y="3273552"/>
            <a:ext cx="59253" cy="65837"/>
          </a:xfrm>
          <a:prstGeom prst="line">
            <a:avLst/>
          </a:prstGeom>
          <a:noFill/>
          <a:ln w="25400">
            <a:solidFill>
              <a:srgbClr val="FF6B35"/>
            </a:solidFill>
            <a:prstDash val="solid"/>
          </a:ln>
        </p:spPr>
      </p:sp>
      <p:sp>
        <p:nvSpPr>
          <p:cNvPr id="18" name="체크 2 획2"/>
          <p:cNvSpPr/>
          <p:nvPr/>
        </p:nvSpPr>
        <p:spPr>
          <a:xfrm flipV="1">
            <a:off x="3577133" y="3207715"/>
            <a:ext cx="92172" cy="131674"/>
          </a:xfrm>
          <a:prstGeom prst="line">
            <a:avLst/>
          </a:prstGeom>
          <a:noFill/>
          <a:ln w="25400">
            <a:solidFill>
              <a:srgbClr val="FF6B35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886200" y="301752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광고에서 목적·표현·숨은 조건 단서를 찾아요.</a:t>
            </a:r>
            <a:endParaRPr lang="en-US" sz="1400" dirty="0"/>
          </a:p>
        </p:txBody>
      </p:sp>
      <p:sp>
        <p:nvSpPr>
          <p:cNvPr id="20" name="목표 번호 2"/>
          <p:cNvSpPr/>
          <p:nvPr/>
        </p:nvSpPr>
        <p:spPr>
          <a:xfrm>
            <a:off x="3429000" y="4114800"/>
            <a:ext cx="1371600" cy="329184"/>
          </a:xfrm>
          <a:prstGeom prst="roundRect">
            <a:avLst>
              <a:gd name="adj" fmla="val 22222"/>
            </a:avLst>
          </a:prstGeom>
          <a:solidFill>
            <a:srgbClr val="FDEBE1"/>
          </a:solidFill>
          <a:ln w="12700">
            <a:solidFill>
              <a:srgbClr val="FDEBE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429000" y="411480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6B3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OBJECTIVE 02</a:t>
            </a:r>
            <a:endParaRPr lang="en-US" sz="1200" dirty="0"/>
          </a:p>
        </p:txBody>
      </p:sp>
      <p:sp>
        <p:nvSpPr>
          <p:cNvPr id="22" name="목표 카드 3"/>
          <p:cNvSpPr/>
          <p:nvPr/>
        </p:nvSpPr>
        <p:spPr>
          <a:xfrm>
            <a:off x="6071616" y="2103120"/>
            <a:ext cx="2830068" cy="256032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071616" y="2240280"/>
            <a:ext cx="28300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6B3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확인하기</a:t>
            </a:r>
            <a:endParaRPr lang="en-US" sz="2200" dirty="0"/>
          </a:p>
        </p:txBody>
      </p:sp>
      <p:sp>
        <p:nvSpPr>
          <p:cNvPr id="24" name="카드 구분선 3"/>
          <p:cNvSpPr/>
          <p:nvPr/>
        </p:nvSpPr>
        <p:spPr>
          <a:xfrm>
            <a:off x="6345936" y="2834640"/>
            <a:ext cx="2281428" cy="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</p:sp>
      <p:sp>
        <p:nvSpPr>
          <p:cNvPr id="25" name="체크 3"/>
          <p:cNvSpPr/>
          <p:nvPr/>
        </p:nvSpPr>
        <p:spPr>
          <a:xfrm>
            <a:off x="6345936" y="3108960"/>
            <a:ext cx="329184" cy="32918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F6B35"/>
            </a:solidFill>
            <a:prstDash val="solid"/>
          </a:ln>
        </p:spPr>
      </p:sp>
      <p:sp>
        <p:nvSpPr>
          <p:cNvPr id="26" name="체크 3 획1"/>
          <p:cNvSpPr/>
          <p:nvPr/>
        </p:nvSpPr>
        <p:spPr>
          <a:xfrm>
            <a:off x="6434816" y="3273552"/>
            <a:ext cx="59253" cy="65837"/>
          </a:xfrm>
          <a:prstGeom prst="line">
            <a:avLst/>
          </a:prstGeom>
          <a:noFill/>
          <a:ln w="25400">
            <a:solidFill>
              <a:srgbClr val="FF6B35"/>
            </a:solidFill>
            <a:prstDash val="solid"/>
          </a:ln>
        </p:spPr>
      </p:sp>
      <p:sp>
        <p:nvSpPr>
          <p:cNvPr id="27" name="체크 3 획2"/>
          <p:cNvSpPr/>
          <p:nvPr/>
        </p:nvSpPr>
        <p:spPr>
          <a:xfrm flipV="1">
            <a:off x="6494069" y="3207715"/>
            <a:ext cx="92172" cy="131674"/>
          </a:xfrm>
          <a:prstGeom prst="line">
            <a:avLst/>
          </a:prstGeom>
          <a:noFill/>
          <a:ln w="25400">
            <a:solidFill>
              <a:srgbClr val="FF6B35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803136" y="301752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판단에 맞는 확인 방법을 정해요.</a:t>
            </a:r>
            <a:endParaRPr lang="en-US" sz="1400" dirty="0"/>
          </a:p>
        </p:txBody>
      </p:sp>
      <p:sp>
        <p:nvSpPr>
          <p:cNvPr id="29" name="목표 번호 3"/>
          <p:cNvSpPr/>
          <p:nvPr/>
        </p:nvSpPr>
        <p:spPr>
          <a:xfrm>
            <a:off x="6345936" y="4114800"/>
            <a:ext cx="1371600" cy="329184"/>
          </a:xfrm>
          <a:prstGeom prst="roundRect">
            <a:avLst>
              <a:gd name="adj" fmla="val 22222"/>
            </a:avLst>
          </a:prstGeom>
          <a:solidFill>
            <a:srgbClr val="FDEBE1"/>
          </a:solidFill>
          <a:ln w="12700">
            <a:solidFill>
              <a:srgbClr val="FDEBE1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345936" y="411480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6B3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OBJECTIVE 03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표식"/>
          <p:cNvSpPr/>
          <p:nvPr/>
        </p:nvSpPr>
        <p:spPr>
          <a:xfrm>
            <a:off x="480060" y="708660"/>
            <a:ext cx="36576" cy="173736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30936" y="566928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활동 1 · 좋아요 3개</a:t>
            </a:r>
            <a:pPr algn="l" indent="0" marL="0">
              <a:buNone/>
            </a:pPr>
            <a:r>
              <a:rPr lang="en-US" sz="1400" b="1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Experiment</a:t>
            </a:r>
            <a:endParaRPr lang="en-US" sz="2800" dirty="0"/>
          </a:p>
        </p:txBody>
      </p:sp>
      <p:sp>
        <p:nvSpPr>
          <p:cNvPr id="4" name="주제 카드 1"/>
          <p:cNvSpPr/>
          <p:nvPr/>
        </p:nvSpPr>
        <p:spPr>
          <a:xfrm>
            <a:off x="475488" y="1234440"/>
            <a:ext cx="1508760" cy="1828800"/>
          </a:xfrm>
          <a:prstGeom prst="roundRect">
            <a:avLst>
              <a:gd name="adj" fmla="val 7273"/>
            </a:avLst>
          </a:prstGeom>
          <a:solidFill>
            <a:srgbClr val="F3F3F3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75488" y="141732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6B3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운동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475488" y="1965960"/>
            <a:ext cx="1508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영상 카드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① ②</a:t>
            </a:r>
            <a:endParaRPr lang="en-US" sz="1500" dirty="0"/>
          </a:p>
        </p:txBody>
      </p:sp>
      <p:sp>
        <p:nvSpPr>
          <p:cNvPr id="7" name="주제 카드 2"/>
          <p:cNvSpPr/>
          <p:nvPr/>
        </p:nvSpPr>
        <p:spPr>
          <a:xfrm>
            <a:off x="2075688" y="1234440"/>
            <a:ext cx="1508760" cy="1828800"/>
          </a:xfrm>
          <a:prstGeom prst="roundRect">
            <a:avLst>
              <a:gd name="adj" fmla="val 7273"/>
            </a:avLst>
          </a:prstGeom>
          <a:solidFill>
            <a:srgbClr val="F3F3F3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075688" y="141732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6B3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게임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2075688" y="1965960"/>
            <a:ext cx="1508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영상 카드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③ ④</a:t>
            </a:r>
            <a:endParaRPr lang="en-US" sz="1500" dirty="0"/>
          </a:p>
        </p:txBody>
      </p:sp>
      <p:sp>
        <p:nvSpPr>
          <p:cNvPr id="10" name="주제 카드 3"/>
          <p:cNvSpPr/>
          <p:nvPr/>
        </p:nvSpPr>
        <p:spPr>
          <a:xfrm>
            <a:off x="3675888" y="1234440"/>
            <a:ext cx="1508760" cy="1828800"/>
          </a:xfrm>
          <a:prstGeom prst="roundRect">
            <a:avLst>
              <a:gd name="adj" fmla="val 7273"/>
            </a:avLst>
          </a:prstGeom>
          <a:solidFill>
            <a:srgbClr val="F3F3F3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675888" y="141732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6B3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생활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3675888" y="1965960"/>
            <a:ext cx="1508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영상 카드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⑤ ⑥</a:t>
            </a:r>
            <a:endParaRPr lang="en-US" sz="1500" dirty="0"/>
          </a:p>
        </p:txBody>
      </p:sp>
      <p:sp>
        <p:nvSpPr>
          <p:cNvPr id="13" name="방법 카드"/>
          <p:cNvSpPr/>
          <p:nvPr/>
        </p:nvSpPr>
        <p:spPr>
          <a:xfrm>
            <a:off x="5394960" y="1234440"/>
            <a:ext cx="3273552" cy="3108960"/>
          </a:xfrm>
          <a:prstGeom prst="roundRect">
            <a:avLst>
              <a:gd name="adj" fmla="val 3529"/>
            </a:avLst>
          </a:prstGeom>
          <a:solidFill>
            <a:srgbClr val="FDEBE1"/>
          </a:solidFill>
          <a:ln w="22225">
            <a:solidFill>
              <a:srgbClr val="FF6B35"/>
            </a:solidFill>
            <a:prstDash val="dash"/>
          </a:ln>
        </p:spPr>
      </p:sp>
      <p:sp>
        <p:nvSpPr>
          <p:cNvPr id="14" name="미션 라벨"/>
          <p:cNvSpPr/>
          <p:nvPr/>
        </p:nvSpPr>
        <p:spPr>
          <a:xfrm>
            <a:off x="5650992" y="1417320"/>
            <a:ext cx="1097280" cy="329184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650992" y="1417320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6B3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MISSION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5650992" y="1920240"/>
            <a:ext cx="2834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보고 싶은 영상 3개에 하트를 눌러요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하트를 취소할 수도 있어요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다음 추천 화면의 순서를 먼저 예상해요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5650992" y="37490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4분 · 웹앱 활동 1</a:t>
            </a:r>
            <a:endParaRPr lang="en-US" sz="1300" dirty="0"/>
          </a:p>
        </p:txBody>
      </p:sp>
      <p:sp>
        <p:nvSpPr>
          <p:cNvPr id="18" name="규칙 배너"/>
          <p:cNvSpPr/>
          <p:nvPr/>
        </p:nvSpPr>
        <p:spPr>
          <a:xfrm>
            <a:off x="475488" y="3291840"/>
            <a:ext cx="4754880" cy="1051560"/>
          </a:xfrm>
          <a:prstGeom prst="roundRect">
            <a:avLst>
              <a:gd name="adj" fmla="val 8696"/>
            </a:avLst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94360" y="3291840"/>
            <a:ext cx="4526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좋아요가 많은 주제 먼저 · 같은 개수면 카드 번호 순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표식"/>
          <p:cNvSpPr/>
          <p:nvPr/>
        </p:nvSpPr>
        <p:spPr>
          <a:xfrm>
            <a:off x="480060" y="708660"/>
            <a:ext cx="36576" cy="173736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30936" y="566928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처음과 나중, 무엇이 달라졌나?</a:t>
            </a:r>
            <a:pPr algn="l" indent="0" marL="0">
              <a:buNone/>
            </a:pPr>
            <a:r>
              <a:rPr lang="en-US" sz="1400" b="1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Compare</a:t>
            </a:r>
            <a:endParaRPr lang="en-US" sz="2800" dirty="0"/>
          </a:p>
        </p:txBody>
      </p:sp>
      <p:sp>
        <p:nvSpPr>
          <p:cNvPr id="4" name="비교 카드 1"/>
          <p:cNvSpPr/>
          <p:nvPr/>
        </p:nvSpPr>
        <p:spPr>
          <a:xfrm>
            <a:off x="475488" y="1234440"/>
            <a:ext cx="2615184" cy="1737360"/>
          </a:xfrm>
          <a:prstGeom prst="roundRect">
            <a:avLst>
              <a:gd name="adj" fmla="val 6316"/>
            </a:avLst>
          </a:prstGeom>
          <a:solidFill>
            <a:srgbClr val="F3F3F3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75488" y="1371600"/>
            <a:ext cx="26151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6B3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 · 1 · 0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612648" y="2057400"/>
            <a:ext cx="23408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7777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많이 고른 주제가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77777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앞으로 와요</a:t>
            </a:r>
            <a:endParaRPr lang="en-US" sz="1400" dirty="0"/>
          </a:p>
        </p:txBody>
      </p:sp>
      <p:sp>
        <p:nvSpPr>
          <p:cNvPr id="7" name="비교 카드 2"/>
          <p:cNvSpPr/>
          <p:nvPr/>
        </p:nvSpPr>
        <p:spPr>
          <a:xfrm>
            <a:off x="3264408" y="1234440"/>
            <a:ext cx="2615184" cy="1737360"/>
          </a:xfrm>
          <a:prstGeom prst="roundRect">
            <a:avLst>
              <a:gd name="adj" fmla="val 6316"/>
            </a:avLst>
          </a:prstGeom>
          <a:solidFill>
            <a:srgbClr val="F3F3F3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264408" y="1371600"/>
            <a:ext cx="26151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6B3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 · 1 · 1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3401568" y="2057400"/>
            <a:ext cx="23408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7777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개수가 같아서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77777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원래 순서 그대로예요</a:t>
            </a:r>
            <a:endParaRPr lang="en-US" sz="1400" dirty="0"/>
          </a:p>
        </p:txBody>
      </p:sp>
      <p:sp>
        <p:nvSpPr>
          <p:cNvPr id="10" name="비교 카드 3"/>
          <p:cNvSpPr/>
          <p:nvPr/>
        </p:nvSpPr>
        <p:spPr>
          <a:xfrm>
            <a:off x="6053328" y="1234440"/>
            <a:ext cx="2615184" cy="1737360"/>
          </a:xfrm>
          <a:prstGeom prst="roundRect">
            <a:avLst>
              <a:gd name="adj" fmla="val 6316"/>
            </a:avLst>
          </a:prstGeom>
          <a:solidFill>
            <a:srgbClr val="F3F3F3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053328" y="1371600"/>
            <a:ext cx="26151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6B3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재실험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6190488" y="2057400"/>
            <a:ext cx="23408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7777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하트 하나를 바꾸면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77777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배열이 또 달라져요</a:t>
            </a:r>
            <a:endParaRPr lang="en-US" sz="1400" dirty="0"/>
          </a:p>
        </p:txBody>
      </p:sp>
      <p:sp>
        <p:nvSpPr>
          <p:cNvPr id="13" name="발문 카드"/>
          <p:cNvSpPr/>
          <p:nvPr/>
        </p:nvSpPr>
        <p:spPr>
          <a:xfrm>
            <a:off x="475488" y="3200400"/>
            <a:ext cx="8193024" cy="1234440"/>
          </a:xfrm>
          <a:prstGeom prst="roundRect">
            <a:avLst>
              <a:gd name="adj" fmla="val 8889"/>
            </a:avLst>
          </a:prstGeom>
          <a:solidFill>
            <a:srgbClr val="FDEBE1"/>
          </a:solidFill>
          <a:ln w="22225">
            <a:solidFill>
              <a:srgbClr val="FF6B35"/>
            </a:solidFill>
            <a:prstDash val="dash"/>
          </a:ln>
        </p:spPr>
      </p:sp>
      <p:sp>
        <p:nvSpPr>
          <p:cNvPr id="14" name="발문 라벨"/>
          <p:cNvSpPr/>
          <p:nvPr/>
        </p:nvSpPr>
        <p:spPr>
          <a:xfrm>
            <a:off x="731520" y="3364992"/>
            <a:ext cx="1143000" cy="329184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31520" y="3364992"/>
            <a:ext cx="1143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6B3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QUESTION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731520" y="37490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추천 순서가 앞에 있으면 믿을 만한 정보일까요?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설명과 판단(신뢰 가능 / 추가 확인 필요 / 위험·행동 보류)을 써요.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표식"/>
          <p:cNvSpPr/>
          <p:nvPr/>
        </p:nvSpPr>
        <p:spPr>
          <a:xfrm>
            <a:off x="480060" y="708660"/>
            <a:ext cx="36576" cy="173736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30936" y="566928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활동 2 · 광고 사건 수사</a:t>
            </a:r>
            <a:pPr algn="l" indent="0" marL="0">
              <a:buNone/>
            </a:pPr>
            <a:r>
              <a:rPr lang="en-US" sz="1400" b="1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Case Files</a:t>
            </a:r>
            <a:endParaRPr lang="en-US" sz="2800" dirty="0"/>
          </a:p>
        </p:txBody>
      </p:sp>
      <p:sp>
        <p:nvSpPr>
          <p:cNvPr id="4" name="사건 카드 1"/>
          <p:cNvSpPr/>
          <p:nvPr/>
        </p:nvSpPr>
        <p:spPr>
          <a:xfrm>
            <a:off x="475488" y="1234440"/>
            <a:ext cx="2615184" cy="2103120"/>
          </a:xfrm>
          <a:prstGeom prst="roundRect">
            <a:avLst>
              <a:gd name="adj" fmla="val 5217"/>
            </a:avLst>
          </a:prstGeom>
          <a:solidFill>
            <a:srgbClr val="F3F3F3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49808" y="14173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사건 ①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49808" y="17830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룰렛 이벤트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749808" y="237744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77777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무료 쿠폰 → 회전 →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77777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연락처 요구 → 조건 확인</a:t>
            </a:r>
            <a:endParaRPr lang="en-US" sz="1300" dirty="0"/>
          </a:p>
        </p:txBody>
      </p:sp>
      <p:sp>
        <p:nvSpPr>
          <p:cNvPr id="8" name="사건 카드 2"/>
          <p:cNvSpPr/>
          <p:nvPr/>
        </p:nvSpPr>
        <p:spPr>
          <a:xfrm>
            <a:off x="3264408" y="1234440"/>
            <a:ext cx="2615184" cy="2103120"/>
          </a:xfrm>
          <a:prstGeom prst="roundRect">
            <a:avLst>
              <a:gd name="adj" fmla="val 5217"/>
            </a:avLst>
          </a:prstGeom>
          <a:solidFill>
            <a:srgbClr val="F3F3F3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538728" y="14173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사건 ②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3538728" y="17830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다이어트 후기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3538728" y="237744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77777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후기 게시물과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77777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제품 정보 버튼을 살펴요</a:t>
            </a:r>
            <a:endParaRPr lang="en-US" sz="1300" dirty="0"/>
          </a:p>
        </p:txBody>
      </p:sp>
      <p:sp>
        <p:nvSpPr>
          <p:cNvPr id="12" name="사건 카드 3"/>
          <p:cNvSpPr/>
          <p:nvPr/>
        </p:nvSpPr>
        <p:spPr>
          <a:xfrm>
            <a:off x="6053328" y="1234440"/>
            <a:ext cx="2615184" cy="2103120"/>
          </a:xfrm>
          <a:prstGeom prst="roundRect">
            <a:avLst>
              <a:gd name="adj" fmla="val 5217"/>
            </a:avLst>
          </a:prstGeom>
          <a:solidFill>
            <a:srgbClr val="F3F3F3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327648" y="14173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사건 ③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327648" y="17830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집중력 무료 체험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6327648" y="237744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77777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체험 광고와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77777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체험 정보 버튼을 살펴요</a:t>
            </a:r>
            <a:endParaRPr lang="en-US" sz="1300" dirty="0"/>
          </a:p>
        </p:txBody>
      </p:sp>
      <p:sp>
        <p:nvSpPr>
          <p:cNvPr id="16" name="안내 카드"/>
          <p:cNvSpPr/>
          <p:nvPr/>
        </p:nvSpPr>
        <p:spPr>
          <a:xfrm>
            <a:off x="475488" y="3566160"/>
            <a:ext cx="8193024" cy="868680"/>
          </a:xfrm>
          <a:prstGeom prst="roundRect">
            <a:avLst>
              <a:gd name="adj" fmla="val 12632"/>
            </a:avLst>
          </a:prstGeom>
          <a:solidFill>
            <a:srgbClr val="FDEBE1"/>
          </a:solidFill>
          <a:ln w="22225">
            <a:solidFill>
              <a:srgbClr val="FF6B35"/>
            </a:solidFill>
            <a:prstDash val="dash"/>
          </a:ln>
        </p:spPr>
      </p:sp>
      <p:sp>
        <p:nvSpPr>
          <p:cNvPr id="17" name="Text 15"/>
          <p:cNvSpPr txBox="1"/>
          <p:nvPr/>
        </p:nvSpPr>
        <p:spPr>
          <a:xfrm>
            <a:off x="777240" y="3566160"/>
            <a:ext cx="7589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하나를 골라 8분 동안 구석구석 살펴요 (사건을 바꾸면 답이 지워져요)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FF6B3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실제 개인정보 입력·결제·경품은 없어요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표식"/>
          <p:cNvSpPr/>
          <p:nvPr/>
        </p:nvSpPr>
        <p:spPr>
          <a:xfrm>
            <a:off x="480060" y="708660"/>
            <a:ext cx="36576" cy="173736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30936" y="566928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수사 보고서 쓰는 법</a:t>
            </a:r>
            <a:pPr algn="l" indent="0" marL="0">
              <a:buNone/>
            </a:pPr>
            <a:r>
              <a:rPr lang="en-US" sz="1400" b="1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How To</a:t>
            </a:r>
            <a:endParaRPr lang="en-US" sz="2800" dirty="0"/>
          </a:p>
        </p:txBody>
      </p:sp>
      <p:sp>
        <p:nvSpPr>
          <p:cNvPr id="4" name="수사 카드 1"/>
          <p:cNvSpPr/>
          <p:nvPr/>
        </p:nvSpPr>
        <p:spPr>
          <a:xfrm>
            <a:off x="475488" y="1234440"/>
            <a:ext cx="1572768" cy="2331720"/>
          </a:xfrm>
          <a:prstGeom prst="roundRect">
            <a:avLst>
              <a:gd name="adj" fmla="val 6977"/>
            </a:avLst>
          </a:prstGeom>
          <a:solidFill>
            <a:srgbClr val="FDEBE1"/>
          </a:solidFill>
          <a:ln w="25400">
            <a:solidFill>
              <a:srgbClr val="FF6B3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" y="137160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6B3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단서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12648" y="182880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2개 이상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12648" y="2423160"/>
            <a:ext cx="1325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7777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화면에서 이상한 점,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77777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작은 글씨를 찾아요</a:t>
            </a:r>
            <a:endParaRPr lang="en-US" sz="1200" dirty="0"/>
          </a:p>
        </p:txBody>
      </p:sp>
      <p:sp>
        <p:nvSpPr>
          <p:cNvPr id="8" name="수사 카드 2"/>
          <p:cNvSpPr/>
          <p:nvPr/>
        </p:nvSpPr>
        <p:spPr>
          <a:xfrm>
            <a:off x="2130552" y="1234440"/>
            <a:ext cx="1572768" cy="2331720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5875">
            <a:solidFill>
              <a:srgbClr val="C9C9C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267712" y="137160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6B3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③ 목적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2267712" y="182880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무엇을 원하나?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2267712" y="2423160"/>
            <a:ext cx="1325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7777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연락처? 구매?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77777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결제?</a:t>
            </a:r>
            <a:endParaRPr lang="en-US" sz="1200" dirty="0"/>
          </a:p>
        </p:txBody>
      </p:sp>
      <p:sp>
        <p:nvSpPr>
          <p:cNvPr id="12" name="수사 카드 3"/>
          <p:cNvSpPr/>
          <p:nvPr/>
        </p:nvSpPr>
        <p:spPr>
          <a:xfrm>
            <a:off x="3785616" y="1234440"/>
            <a:ext cx="1572768" cy="2331720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5875">
            <a:solidFill>
              <a:srgbClr val="C9C9C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922776" y="137160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6B3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④ 표현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3922776" y="182880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어떻게 말하나?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3922776" y="2423160"/>
            <a:ext cx="1325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7777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“오늘만” “선착순”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77777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“무료”</a:t>
            </a:r>
            <a:endParaRPr lang="en-US" sz="1200" dirty="0"/>
          </a:p>
        </p:txBody>
      </p:sp>
      <p:sp>
        <p:nvSpPr>
          <p:cNvPr id="16" name="수사 카드 4"/>
          <p:cNvSpPr/>
          <p:nvPr/>
        </p:nvSpPr>
        <p:spPr>
          <a:xfrm>
            <a:off x="5440680" y="1234440"/>
            <a:ext cx="1572768" cy="2331720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5875">
            <a:solidFill>
              <a:srgbClr val="C9C9C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577840" y="137160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6B3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② 근거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5577840" y="182880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빠진 정보는?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577840" y="2423160"/>
            <a:ext cx="1325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7777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성분·출처·조건이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77777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적혀 있나?</a:t>
            </a:r>
            <a:endParaRPr lang="en-US" sz="1200" dirty="0"/>
          </a:p>
        </p:txBody>
      </p:sp>
      <p:sp>
        <p:nvSpPr>
          <p:cNvPr id="20" name="수사 카드 5"/>
          <p:cNvSpPr/>
          <p:nvPr/>
        </p:nvSpPr>
        <p:spPr>
          <a:xfrm>
            <a:off x="7095744" y="1234440"/>
            <a:ext cx="1572768" cy="2331720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5875">
            <a:solidFill>
              <a:srgbClr val="C9C9C9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232904" y="137160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6B3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⑤ 확인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7232904" y="182880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어떻게 확인?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7232904" y="2423160"/>
            <a:ext cx="1325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7777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다른 곳에서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77777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확인할 방법은?</a:t>
            </a:r>
            <a:endParaRPr lang="en-US" sz="1200" dirty="0"/>
          </a:p>
        </p:txBody>
      </p:sp>
      <p:sp>
        <p:nvSpPr>
          <p:cNvPr id="24" name="배너"/>
          <p:cNvSpPr/>
          <p:nvPr/>
        </p:nvSpPr>
        <p:spPr>
          <a:xfrm>
            <a:off x="475488" y="3794760"/>
            <a:ext cx="8193024" cy="640080"/>
          </a:xfrm>
          <a:prstGeom prst="roundRect">
            <a:avLst>
              <a:gd name="adj" fmla="val 14286"/>
            </a:avLst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75488" y="3794760"/>
            <a:ext cx="8193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룰렛이나 협찬 자체가 나쁜 건 아니에요. 숨은 조건과 빠진 정보를 찾아요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표식"/>
          <p:cNvSpPr/>
          <p:nvPr/>
        </p:nvSpPr>
        <p:spPr>
          <a:xfrm>
            <a:off x="480060" y="708660"/>
            <a:ext cx="36576" cy="173736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30936" y="566928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해설 비교하기</a:t>
            </a:r>
            <a:pPr algn="l" indent="0" marL="0">
              <a:buNone/>
            </a:pPr>
            <a:r>
              <a:rPr lang="en-US" sz="1400" b="1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Answer Check</a:t>
            </a:r>
            <a:endParaRPr lang="en-US" sz="2800" dirty="0"/>
          </a:p>
        </p:txBody>
      </p:sp>
      <p:sp>
        <p:nvSpPr>
          <p:cNvPr id="4" name="해설 행 1"/>
          <p:cNvSpPr/>
          <p:nvPr/>
        </p:nvSpPr>
        <p:spPr>
          <a:xfrm>
            <a:off x="475488" y="1188720"/>
            <a:ext cx="8193024" cy="749808"/>
          </a:xfrm>
          <a:prstGeom prst="roundRect">
            <a:avLst>
              <a:gd name="adj" fmla="val 12195"/>
            </a:avLst>
          </a:prstGeom>
          <a:solidFill>
            <a:srgbClr val="F3F3F3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188720"/>
            <a:ext cx="1280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6B3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① 룰렛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2103120" y="1188720"/>
            <a:ext cx="6400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연락처 요구 · 작은 글씨 조건 · 선착순 재촉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77777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당첨 연출이 매번 같을 수 있어요</a:t>
            </a:r>
            <a:endParaRPr lang="en-US" sz="1400" dirty="0"/>
          </a:p>
        </p:txBody>
      </p:sp>
      <p:sp>
        <p:nvSpPr>
          <p:cNvPr id="7" name="해설 행 2"/>
          <p:cNvSpPr/>
          <p:nvPr/>
        </p:nvSpPr>
        <p:spPr>
          <a:xfrm>
            <a:off x="475488" y="2057400"/>
            <a:ext cx="8193024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 w="15875">
            <a:solidFill>
              <a:srgbClr val="C9C9C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2057400"/>
            <a:ext cx="1280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6B3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② 후기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2103120" y="2057400"/>
            <a:ext cx="6400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작게 적힌 협찬 표시 · 근거 없는 단정 · 마감 재촉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77777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성분·만든 곳 정보가 없어요</a:t>
            </a:r>
            <a:endParaRPr lang="en-US" sz="1400" dirty="0"/>
          </a:p>
        </p:txBody>
      </p:sp>
      <p:sp>
        <p:nvSpPr>
          <p:cNvPr id="10" name="해설 행 3"/>
          <p:cNvSpPr/>
          <p:nvPr/>
        </p:nvSpPr>
        <p:spPr>
          <a:xfrm>
            <a:off x="475488" y="2926080"/>
            <a:ext cx="8193024" cy="749808"/>
          </a:xfrm>
          <a:prstGeom prst="roundRect">
            <a:avLst>
              <a:gd name="adj" fmla="val 12195"/>
            </a:avLst>
          </a:prstGeom>
          <a:solidFill>
            <a:srgbClr val="F3F3F3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2926080"/>
            <a:ext cx="1280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6B3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③ 체험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2103120" y="2926080"/>
            <a:ext cx="6400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성분·출처 비공개 · 자동 결제 조건 · 친구 추천 유도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77777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해지 방법이 작은 글씨예요</a:t>
            </a:r>
            <a:endParaRPr lang="en-US" sz="1400" dirty="0"/>
          </a:p>
        </p:txBody>
      </p:sp>
      <p:sp>
        <p:nvSpPr>
          <p:cNvPr id="13" name="짝 토의 카드"/>
          <p:cNvSpPr/>
          <p:nvPr/>
        </p:nvSpPr>
        <p:spPr>
          <a:xfrm>
            <a:off x="475488" y="3840480"/>
            <a:ext cx="8193024" cy="594360"/>
          </a:xfrm>
          <a:prstGeom prst="roundRect">
            <a:avLst>
              <a:gd name="adj" fmla="val 18462"/>
            </a:avLst>
          </a:prstGeom>
          <a:solidFill>
            <a:srgbClr val="FDEBE1"/>
          </a:solidFill>
          <a:ln w="22225">
            <a:solidFill>
              <a:srgbClr val="FF6B35"/>
            </a:solidFill>
            <a:prstDash val="dash"/>
          </a:ln>
        </p:spPr>
      </p:sp>
      <p:sp>
        <p:nvSpPr>
          <p:cNvPr id="14" name="Text 12"/>
          <p:cNvSpPr txBox="1"/>
          <p:nvPr/>
        </p:nvSpPr>
        <p:spPr>
          <a:xfrm>
            <a:off x="777240" y="3840480"/>
            <a:ext cx="7589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다른 사건을 고른 짝에게 결정적 단서를 설명하고 서로 질문해요 (6분)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표식"/>
          <p:cNvSpPr/>
          <p:nvPr/>
        </p:nvSpPr>
        <p:spPr>
          <a:xfrm>
            <a:off x="480060" y="708660"/>
            <a:ext cx="36576" cy="173736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30936" y="566928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오늘의 수사 결과를 제출해요</a:t>
            </a:r>
            <a:pPr algn="l" indent="0" marL="0">
              <a:buNone/>
            </a:pPr>
            <a:r>
              <a:rPr lang="en-US" sz="1400" b="1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Submit</a:t>
            </a:r>
            <a:endParaRPr lang="en-US" sz="2800" dirty="0"/>
          </a:p>
        </p:txBody>
      </p:sp>
      <p:sp>
        <p:nvSpPr>
          <p:cNvPr id="4" name="결과 카드"/>
          <p:cNvSpPr/>
          <p:nvPr/>
        </p:nvSpPr>
        <p:spPr>
          <a:xfrm>
            <a:off x="475488" y="1234440"/>
            <a:ext cx="4114800" cy="3154680"/>
          </a:xfrm>
          <a:prstGeom prst="roundRect">
            <a:avLst>
              <a:gd name="adj" fmla="val 4058"/>
            </a:avLst>
          </a:prstGeom>
          <a:solidFill>
            <a:srgbClr val="F3F3F3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5" name="제출 라벨"/>
          <p:cNvSpPr/>
          <p:nvPr/>
        </p:nvSpPr>
        <p:spPr>
          <a:xfrm>
            <a:off x="777240" y="1463040"/>
            <a:ext cx="1463040" cy="347472"/>
          </a:xfrm>
          <a:prstGeom prst="roundRect">
            <a:avLst>
              <a:gd name="adj" fmla="val 21053"/>
            </a:avLst>
          </a:prstGeom>
          <a:solidFill>
            <a:srgbClr val="FDEBE1"/>
          </a:solidFill>
          <a:ln w="12700">
            <a:solidFill>
              <a:srgbClr val="FDEBE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46304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최종 제출 칸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103120"/>
            <a:ext cx="3520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가장 결정적인 단서 1개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 판단에 맞는 확인 방법·행동 1개</a:t>
            </a:r>
            <a:endParaRPr lang="en-US" sz="1800" dirty="0"/>
          </a:p>
        </p:txBody>
      </p:sp>
      <p:sp>
        <p:nvSpPr>
          <p:cNvPr id="8" name="안내 카드"/>
          <p:cNvSpPr/>
          <p:nvPr/>
        </p:nvSpPr>
        <p:spPr>
          <a:xfrm>
            <a:off x="4846320" y="1234440"/>
            <a:ext cx="3822192" cy="3154680"/>
          </a:xfrm>
          <a:prstGeom prst="roundRect">
            <a:avLst>
              <a:gd name="adj" fmla="val 3478"/>
            </a:avLst>
          </a:prstGeom>
          <a:solidFill>
            <a:srgbClr val="FDEBE1"/>
          </a:solidFill>
          <a:ln w="22225">
            <a:solidFill>
              <a:srgbClr val="FF6B35"/>
            </a:solidFill>
            <a:prstDash val="dash"/>
          </a:ln>
        </p:spPr>
      </p:sp>
      <p:sp>
        <p:nvSpPr>
          <p:cNvPr id="9" name="안내 라벨"/>
          <p:cNvSpPr/>
          <p:nvPr/>
        </p:nvSpPr>
        <p:spPr>
          <a:xfrm>
            <a:off x="5120640" y="1463040"/>
            <a:ext cx="822960" cy="329184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120640" y="1463040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6B3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NOTE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120640" y="2057400"/>
            <a:ext cx="3383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전원 제출한 뒤에 접수가 끝나요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쓰는 중에는 새로고침하지 않아요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제출이 안 되면 다시 제출해요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5120640" y="37490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3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5분 · 2~3명 발표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828800" y="7772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A8A8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오늘의 한 줄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128016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추천은 내 관심의 기록,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201168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믿을 만한지는 출처와 근거로</a:t>
            </a:r>
            <a:endParaRPr lang="en-US" sz="4000" dirty="0"/>
          </a:p>
        </p:txBody>
      </p:sp>
      <p:sp>
        <p:nvSpPr>
          <p:cNvPr id="5" name="위 구분선"/>
          <p:cNvSpPr/>
          <p:nvPr/>
        </p:nvSpPr>
        <p:spPr>
          <a:xfrm>
            <a:off x="1828800" y="3337560"/>
            <a:ext cx="5486400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828800" y="340156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다음 시간 · 기술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3840480" y="3401568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판단을 돕는 안전 화면 설계</a:t>
            </a:r>
            <a:endParaRPr lang="en-US" sz="1400" dirty="0"/>
          </a:p>
        </p:txBody>
      </p:sp>
      <p:sp>
        <p:nvSpPr>
          <p:cNvPr id="8" name="아래 구분선"/>
          <p:cNvSpPr/>
          <p:nvPr/>
        </p:nvSpPr>
        <p:spPr>
          <a:xfrm>
            <a:off x="1828800" y="3904488"/>
            <a:ext cx="5486400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97280" y="416052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8A8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걱정되는 일이 있거나 도움이 필요하면 담임 · 보건 · 상담 선생님께 편하게 말해요.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오색렌즈 리포트">
  <a:themeElements>
    <a:clrScheme name="오색렌즈 리포트">
      <a:dk1>
        <a:srgbClr val="333333"/>
      </a:dk1>
      <a:lt1>
        <a:srgbClr val="FFFFFF"/>
      </a:lt1>
      <a:dk2>
        <a:srgbClr val="555555"/>
      </a:dk2>
      <a:lt2>
        <a:srgbClr val="F3F3F3"/>
      </a:lt2>
      <a:accent1>
        <a:srgbClr val="FF6B35"/>
      </a:accent1>
      <a:accent2>
        <a:srgbClr val="FF9E7A"/>
      </a:accent2>
      <a:accent3>
        <a:srgbClr val="FDEBE1"/>
      </a:accent3>
      <a:accent4>
        <a:srgbClr val="7FB0FF"/>
      </a:accent4>
      <a:accent5>
        <a:srgbClr val="777777"/>
      </a:accent5>
      <a:accent6>
        <a:srgbClr val="C9C9C9"/>
      </a:accent6>
      <a:hlink>
        <a:srgbClr val="FF6B35"/>
      </a:hlink>
      <a:folHlink>
        <a:srgbClr val="777777"/>
      </a:folHlink>
    </a:clrScheme>
    <a:fontScheme name="오색렌즈 리포트">
      <a:majorFont>
        <a:latin typeface="Pretendar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retendard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유해정보 리터러시 4차시</dc:title>
  <dc:subject>PptxGenJS Presentation</dc:subject>
  <dc:creator>오색렌즈 교사연구회</dc:creator>
  <cp:lastModifiedBy>오색렌즈 교사연구회</cp:lastModifiedBy>
  <cp:revision>1</cp:revision>
  <dcterms:created xsi:type="dcterms:W3CDTF">2026-10-13T03:16:34Z</dcterms:created>
  <dcterms:modified xsi:type="dcterms:W3CDTF">2026-10-13T03:16:34Z</dcterms:modified>
</cp:coreProperties>
</file>