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3a43ca47-b7ac-1d30-894f-328fd45713cb}">
          <p14:sldIdLst>
            <p14:sldId id="256"/>
          </p14:sldIdLst>
        </p14:section>
        <p14:section name="도입" id="{798cfb39-708e-017b-4d7b-be146e9e075c}">
          <p14:sldIdLst>
            <p14:sldId id="257"/>
            <p14:sldId id="258"/>
            <p14:sldId id="259"/>
          </p14:sldIdLst>
        </p14:section>
        <p14:section name="전개" id="{88c15a10-c269-910e-015e-9e5a68493717}">
          <p14:sldIdLst>
            <p14:sldId id="260"/>
            <p14:sldId id="261"/>
            <p14:sldId id="262"/>
            <p14:sldId id="263"/>
          </p14:sldIdLst>
        </p14:section>
        <p14:section name="정리" id="{d7473c36-6863-1dbd-aefe-1478fa83af76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웹앱 접속을 안내합니다. 1인 1대 접속을 미리 시험해 두고, 접속 장애에 대비해 종이 활동지(5차시_학생활동지_종이대체본)를 준비합니다.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(4분 중 약 2분). QR 이미지와 수업 코드는 수업 직전에 넣거나 칠판에 적습니다(주소는 이 장에 넣지 않았습니다). 학교 절차와 개인정보 안내를 사전에 준비합니다.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(약 2분). 4차시에서 찾은 숨은 조건을 떠올립니다. 사건 단서는 4차시 활동지 기준이며 웹앱 해설과 다르면 앱 기준으로 바꿔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(2분). 오늘은 설계자가 되어 안전 화면을 만들고 마지막에 새 메시지를 혼자 판단합니다. 순서: 기능 선택 → 미리보기 → 짝 점검·개선 → 공유 → 개별 판단. 짝과 의논할 수 있으나 응답은 각자 작성합니다. 속도 경쟁은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1 (5분). 5가지 기능을 소개하고 정보 5문·3~4차시 경험과 연결합니다: ② 이건 광고예요 – ③ 의도, ③ 누가 만든 정보일까 – ① 출처, ④ 다른 정보도 볼래요 – ⑤ 재확인, ① 왜 나에게 보였을까 – 3차시 추천 원리, ⑤ 도움이 필요해요 – 도움 요청. 기능이 많을수록 좋은 것이 아님을 강조하고, 학생이 쓰는 특정 앱의 기능명은 말하지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2 (9분). 버튼 선택은 설계 제안이며 실제 외부 확인·신고 기능을 구현하는 것이 아닙니다. 플랫폼이 보여 줄 책임과 이용자의 선택권을 연결해 이야기합니다. 접속이 어려우면 종이 활동지 1쪽을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3 (6분). 짝에게 내 화면을 보여 주고 네 가지를 이 화면에서 확인할 수 있는지 묻습니다. 짝 활동이 어려운 학생은 활동지 점검 질문 4개로 자기 점검을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4·5 (개선 5분, 공유 4분). 시트에는 최종 기능·설계 이유·수정 설명이 저장됩니다. 수정 전 화면은 자동 저장되지 않으므로 전후 변화는 학생 설명과 관찰로 확인합니다. 특정 서비스를 비난하지 않고, 플랫폼이 보여 줄 책임과 이용자가 확인할 책임을 함께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1 (7분). 교사 참고(정답 하나가 아님): 단서 – 성분·출처 비공개(근거 없음), “비밀 연락”(숨기도록 유도), “친구도 추천”(사회적 압력), “지금”(재촉). 판단 – 위험·행동 보류 또는 추가 확인 필요 모두 근거가 타당하면 인정. 안전 행동 – 연락·구매 보류, 성분·만든 곳 확인, 친구에게 알리기, 믿을 만한 어른께 알리기. 친구에게 할 말 예 – “성분이랑 어디서 만든 건지 먼저 확인해 보자.” 4차시 사건(집중력 무료 체험)과 주제가 겹치므로 완전히 낯선 상황으로의 전이를 입증하는 과제로 해석하지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2 (3분). 완료 화면을 확인하고 학생 응답 저장을 점검합니다. 교사 메뉴로 분리표·평가표를 갱신합니다. “추천은 관심 기록, 신뢰성은 출처와 근거로 확인한다”를 구두로 정리합니다(앱 저장 항목이 아님). 도움 요청 대상은 학교 안 선생님과 보호자로 안내하며, 외부 기관 연락처는 확인된 정보만 따로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오늘의 한 줄은 활동지 2쪽에 씁니다(앱 저장 항목이 아님). 후속 사례 분석·캠페인 수업에서 오늘의 판단 기준과 안전 화면 아이디어를 활용함을 안내합니다. 이 수업의 메시지·기능·화면은 모두 수업용 가상 사례임을 다시 알립니다.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FRAM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M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0732" y="246888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유해정보 리터러시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미디어 수사대 ②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만드는 안전 화면</a:t>
            </a:r>
            <a:endParaRPr lang="en-US" sz="5200" dirty="0"/>
          </a:p>
        </p:txBody>
      </p:sp>
      <p:sp>
        <p:nvSpPr>
          <p:cNvPr id="4" name="정보 바"/>
          <p:cNvSpPr/>
          <p:nvPr/>
        </p:nvSpPr>
        <p:spPr>
          <a:xfrm>
            <a:off x="1828800" y="3268980"/>
            <a:ext cx="5486400" cy="530352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정보 바 구분선"/>
          <p:cNvSpPr/>
          <p:nvPr/>
        </p:nvSpPr>
        <p:spPr>
          <a:xfrm>
            <a:off x="4572000" y="3410712"/>
            <a:ext cx="0" cy="246888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57400" y="32689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교과  </a:t>
            </a:r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기술·가정 (기술 영역)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32689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차시  </a:t>
            </a:r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10 · 45분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Lesson 05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오색렌즈 교사연구회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수사대에 접속해요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Log In</a:t>
            </a:r>
            <a:endParaRPr lang="en-US" sz="2800" dirty="0"/>
          </a:p>
        </p:txBody>
      </p:sp>
      <p:sp>
        <p:nvSpPr>
          <p:cNvPr id="4" name="QR 카드"/>
          <p:cNvSpPr/>
          <p:nvPr/>
        </p:nvSpPr>
        <p:spPr>
          <a:xfrm>
            <a:off x="475488" y="1234440"/>
            <a:ext cx="2926080" cy="3200400"/>
          </a:xfrm>
          <a:prstGeom prst="roundRect">
            <a:avLst>
              <a:gd name="adj" fmla="val 437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QR 라벨"/>
          <p:cNvSpPr/>
          <p:nvPr/>
        </p:nvSpPr>
        <p:spPr>
          <a:xfrm>
            <a:off x="731520" y="141732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· 링크</a:t>
            </a:r>
            <a:endParaRPr lang="en-US" sz="1200" dirty="0"/>
          </a:p>
        </p:txBody>
      </p:sp>
      <p:sp>
        <p:nvSpPr>
          <p:cNvPr id="7" name="QR 자리"/>
          <p:cNvSpPr/>
          <p:nvPr/>
        </p:nvSpPr>
        <p:spPr>
          <a:xfrm>
            <a:off x="868680" y="192024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68680" y="19202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이미지를 넣어요</a:t>
            </a:r>
            <a:endParaRPr lang="en-US" sz="1300" dirty="0"/>
          </a:p>
        </p:txBody>
      </p:sp>
      <p:sp>
        <p:nvSpPr>
          <p:cNvPr id="9" name="접속 방법 카드"/>
          <p:cNvSpPr/>
          <p:nvPr/>
        </p:nvSpPr>
        <p:spPr>
          <a:xfrm>
            <a:off x="3657600" y="1234440"/>
            <a:ext cx="5010912" cy="3200400"/>
          </a:xfrm>
          <a:prstGeom prst="roundRect">
            <a:avLst>
              <a:gd name="adj" fmla="val 3429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0" name="접속 라벨"/>
          <p:cNvSpPr/>
          <p:nvPr/>
        </p:nvSpPr>
        <p:spPr>
          <a:xfrm>
            <a:off x="3931920" y="1417320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14173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9202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또는 링크로 접속해요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코드:  ______ (칠판에 적어요)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학교·학년·반·이름만 입력해요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계정과 검색 기록은 수집하지 않아요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3840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접속이 안 되면 종이 활동지로 해요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 시간 수사 결과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Review</a:t>
            </a:r>
            <a:endParaRPr lang="en-US" sz="2800" dirty="0"/>
          </a:p>
        </p:txBody>
      </p:sp>
      <p:sp>
        <p:nvSpPr>
          <p:cNvPr id="4" name="복습 카드 1"/>
          <p:cNvSpPr/>
          <p:nvPr/>
        </p:nvSpPr>
        <p:spPr>
          <a:xfrm>
            <a:off x="475488" y="1234440"/>
            <a:ext cx="2615184" cy="173736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룰렛 이벤트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011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요구 · 작은 글씨 조건</a:t>
            </a:r>
            <a:endParaRPr lang="en-US" sz="1400" dirty="0"/>
          </a:p>
        </p:txBody>
      </p:sp>
      <p:sp>
        <p:nvSpPr>
          <p:cNvPr id="7" name="복습 카드 2"/>
          <p:cNvSpPr/>
          <p:nvPr/>
        </p:nvSpPr>
        <p:spPr>
          <a:xfrm>
            <a:off x="3264408" y="1234440"/>
            <a:ext cx="2615184" cy="173736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93008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다이어트 후기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93008" y="2011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협찬 표시 · 근거 없는 단정</a:t>
            </a:r>
            <a:endParaRPr lang="en-US" sz="1400" dirty="0"/>
          </a:p>
        </p:txBody>
      </p:sp>
      <p:sp>
        <p:nvSpPr>
          <p:cNvPr id="10" name="복습 카드 3"/>
          <p:cNvSpPr/>
          <p:nvPr/>
        </p:nvSpPr>
        <p:spPr>
          <a:xfrm>
            <a:off x="6053328" y="1234440"/>
            <a:ext cx="2615184" cy="173736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집중력 무료 체험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81928" y="2011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성분·출처 비공개 · 자동 결제</a:t>
            </a:r>
            <a:endParaRPr lang="en-US" sz="1400" dirty="0"/>
          </a:p>
        </p:txBody>
      </p:sp>
      <p:sp>
        <p:nvSpPr>
          <p:cNvPr id="13" name="배너"/>
          <p:cNvSpPr/>
          <p:nvPr/>
        </p:nvSpPr>
        <p:spPr>
          <a:xfrm>
            <a:off x="475488" y="3246120"/>
            <a:ext cx="8193024" cy="1188720"/>
          </a:xfrm>
          <a:prstGeom prst="roundRect">
            <a:avLst>
              <a:gd name="adj" fmla="val 9231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" y="3246120"/>
            <a:ext cx="8193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만약 내가 앱을 만든다면,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이용자가 판단하도록 어떻게 도울까?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Question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정보를 판단하도록 돕는 화면을 설계하고,</a:t>
            </a:r>
            <a:endParaRPr lang="en-US" sz="2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메시지를 혼자 판단해 볼까?</a:t>
            </a:r>
            <a:endParaRPr lang="en-US" sz="2600" dirty="0"/>
          </a:p>
        </p:txBody>
      </p:sp>
      <p:sp>
        <p:nvSpPr>
          <p:cNvPr id="4" name="목표 카드 1"/>
          <p:cNvSpPr/>
          <p:nvPr/>
        </p:nvSpPr>
        <p:spPr>
          <a:xfrm>
            <a:off x="237744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설계하기</a:t>
            </a:r>
            <a:endParaRPr lang="en-US" sz="2200" dirty="0"/>
          </a:p>
        </p:txBody>
      </p:sp>
      <p:sp>
        <p:nvSpPr>
          <p:cNvPr id="6" name="카드 구분선 1"/>
          <p:cNvSpPr/>
          <p:nvPr/>
        </p:nvSpPr>
        <p:spPr>
          <a:xfrm>
            <a:off x="512064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체크 1"/>
          <p:cNvSpPr/>
          <p:nvPr/>
        </p:nvSpPr>
        <p:spPr>
          <a:xfrm>
            <a:off x="512064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8" name="체크 1 획1"/>
          <p:cNvSpPr/>
          <p:nvPr/>
        </p:nvSpPr>
        <p:spPr>
          <a:xfrm>
            <a:off x="600944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9" name="체크 1 획2"/>
          <p:cNvSpPr/>
          <p:nvPr/>
        </p:nvSpPr>
        <p:spPr>
          <a:xfrm flipV="1">
            <a:off x="660197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판단을 돕는 기능 2개 이상을 골라 이유를 써요.</a:t>
            </a:r>
            <a:endParaRPr lang="en-US" sz="1400" dirty="0"/>
          </a:p>
        </p:txBody>
      </p:sp>
      <p:sp>
        <p:nvSpPr>
          <p:cNvPr id="11" name="목표 번호 1"/>
          <p:cNvSpPr/>
          <p:nvPr/>
        </p:nvSpPr>
        <p:spPr>
          <a:xfrm>
            <a:off x="512064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01</a:t>
            </a:r>
            <a:endParaRPr lang="en-US" sz="1200" dirty="0"/>
          </a:p>
        </p:txBody>
      </p:sp>
      <p:sp>
        <p:nvSpPr>
          <p:cNvPr id="13" name="목표 카드 2"/>
          <p:cNvSpPr/>
          <p:nvPr/>
        </p:nvSpPr>
        <p:spPr>
          <a:xfrm>
            <a:off x="3154680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54680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개선하기</a:t>
            </a:r>
            <a:endParaRPr lang="en-US" sz="2200" dirty="0"/>
          </a:p>
        </p:txBody>
      </p:sp>
      <p:sp>
        <p:nvSpPr>
          <p:cNvPr id="15" name="카드 구분선 2"/>
          <p:cNvSpPr/>
          <p:nvPr/>
        </p:nvSpPr>
        <p:spPr>
          <a:xfrm>
            <a:off x="3429000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6" name="체크 2"/>
          <p:cNvSpPr/>
          <p:nvPr/>
        </p:nvSpPr>
        <p:spPr>
          <a:xfrm>
            <a:off x="3429000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7" name="체크 2 획1"/>
          <p:cNvSpPr/>
          <p:nvPr/>
        </p:nvSpPr>
        <p:spPr>
          <a:xfrm>
            <a:off x="3517880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8" name="체크 2 획2"/>
          <p:cNvSpPr/>
          <p:nvPr/>
        </p:nvSpPr>
        <p:spPr>
          <a:xfrm flipV="1">
            <a:off x="3577133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86200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짝 점검을 반영해 화면을 고쳐요.</a:t>
            </a:r>
            <a:endParaRPr lang="en-US" sz="1400" dirty="0"/>
          </a:p>
        </p:txBody>
      </p:sp>
      <p:sp>
        <p:nvSpPr>
          <p:cNvPr id="20" name="목표 번호 2"/>
          <p:cNvSpPr/>
          <p:nvPr/>
        </p:nvSpPr>
        <p:spPr>
          <a:xfrm>
            <a:off x="3429000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02</a:t>
            </a:r>
            <a:endParaRPr lang="en-US" sz="1200" dirty="0"/>
          </a:p>
        </p:txBody>
      </p:sp>
      <p:sp>
        <p:nvSpPr>
          <p:cNvPr id="22" name="목표 카드 3"/>
          <p:cNvSpPr/>
          <p:nvPr/>
        </p:nvSpPr>
        <p:spPr>
          <a:xfrm>
            <a:off x="6071616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71616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판단하기</a:t>
            </a:r>
            <a:endParaRPr lang="en-US" sz="2200" dirty="0"/>
          </a:p>
        </p:txBody>
      </p:sp>
      <p:sp>
        <p:nvSpPr>
          <p:cNvPr id="24" name="카드 구분선 3"/>
          <p:cNvSpPr/>
          <p:nvPr/>
        </p:nvSpPr>
        <p:spPr>
          <a:xfrm>
            <a:off x="6345936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5" name="체크 3"/>
          <p:cNvSpPr/>
          <p:nvPr/>
        </p:nvSpPr>
        <p:spPr>
          <a:xfrm>
            <a:off x="6345936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6" name="체크 3 획1"/>
          <p:cNvSpPr/>
          <p:nvPr/>
        </p:nvSpPr>
        <p:spPr>
          <a:xfrm>
            <a:off x="6434816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7" name="체크 3 획2"/>
          <p:cNvSpPr/>
          <p:nvPr/>
        </p:nvSpPr>
        <p:spPr>
          <a:xfrm flipV="1">
            <a:off x="6494069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03136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메시지를 근거로 판단하고 안전하게 행동해요.</a:t>
            </a:r>
            <a:endParaRPr lang="en-US" sz="1400" dirty="0"/>
          </a:p>
        </p:txBody>
      </p:sp>
      <p:sp>
        <p:nvSpPr>
          <p:cNvPr id="29" name="목표 번호 3"/>
          <p:cNvSpPr/>
          <p:nvPr/>
        </p:nvSpPr>
        <p:spPr>
          <a:xfrm>
            <a:off x="6345936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45936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판단을 돕는 기능 5가지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Features</a:t>
            </a:r>
            <a:endParaRPr lang="en-US" sz="2800" dirty="0"/>
          </a:p>
        </p:txBody>
      </p:sp>
      <p:sp>
        <p:nvSpPr>
          <p:cNvPr id="4" name="기능 카드 1"/>
          <p:cNvSpPr/>
          <p:nvPr/>
        </p:nvSpPr>
        <p:spPr>
          <a:xfrm>
            <a:off x="475488" y="1234440"/>
            <a:ext cx="1572768" cy="25146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325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828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나에게 보였을까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4231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어떤 행동 때문에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떴는지 알려 줘요</a:t>
            </a:r>
            <a:endParaRPr lang="en-US" sz="1100" dirty="0"/>
          </a:p>
        </p:txBody>
      </p:sp>
      <p:sp>
        <p:nvSpPr>
          <p:cNvPr id="8" name="연결 1"/>
          <p:cNvSpPr/>
          <p:nvPr/>
        </p:nvSpPr>
        <p:spPr>
          <a:xfrm>
            <a:off x="612648" y="329184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</a:t>
            </a:r>
            <a:endParaRPr lang="en-US" sz="1100" dirty="0"/>
          </a:p>
        </p:txBody>
      </p:sp>
      <p:sp>
        <p:nvSpPr>
          <p:cNvPr id="10" name="기능 카드 2"/>
          <p:cNvSpPr/>
          <p:nvPr/>
        </p:nvSpPr>
        <p:spPr>
          <a:xfrm>
            <a:off x="2130552" y="1234440"/>
            <a:ext cx="1572768" cy="25146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67712" y="1325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267712" y="1828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이건 광고예요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24231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광고·협찬이면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눈에 띄게 표시해요</a:t>
            </a:r>
            <a:endParaRPr lang="en-US" sz="1100" dirty="0"/>
          </a:p>
        </p:txBody>
      </p:sp>
      <p:sp>
        <p:nvSpPr>
          <p:cNvPr id="14" name="연결 2"/>
          <p:cNvSpPr/>
          <p:nvPr/>
        </p:nvSpPr>
        <p:spPr>
          <a:xfrm>
            <a:off x="2267712" y="329184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67712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의도</a:t>
            </a:r>
            <a:endParaRPr lang="en-US" sz="1100" dirty="0"/>
          </a:p>
        </p:txBody>
      </p:sp>
      <p:sp>
        <p:nvSpPr>
          <p:cNvPr id="16" name="기능 카드 3"/>
          <p:cNvSpPr/>
          <p:nvPr/>
        </p:nvSpPr>
        <p:spPr>
          <a:xfrm>
            <a:off x="3785616" y="1234440"/>
            <a:ext cx="1572768" cy="25146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22776" y="1325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922776" y="1828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만든 정보일까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22776" y="24231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사람·기관과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날짜를 보여 줘요</a:t>
            </a:r>
            <a:endParaRPr lang="en-US" sz="1100" dirty="0"/>
          </a:p>
        </p:txBody>
      </p:sp>
      <p:sp>
        <p:nvSpPr>
          <p:cNvPr id="20" name="연결 3"/>
          <p:cNvSpPr/>
          <p:nvPr/>
        </p:nvSpPr>
        <p:spPr>
          <a:xfrm>
            <a:off x="3922776" y="329184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22776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출처</a:t>
            </a:r>
            <a:endParaRPr lang="en-US" sz="1100" dirty="0"/>
          </a:p>
        </p:txBody>
      </p:sp>
      <p:sp>
        <p:nvSpPr>
          <p:cNvPr id="22" name="기능 카드 4"/>
          <p:cNvSpPr/>
          <p:nvPr/>
        </p:nvSpPr>
        <p:spPr>
          <a:xfrm>
            <a:off x="5440680" y="1234440"/>
            <a:ext cx="1572768" cy="25146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77840" y="1325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1828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정보도 볼래요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24231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주제의 다른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자료를 함께 보여 줘요</a:t>
            </a:r>
            <a:endParaRPr lang="en-US" sz="1100" dirty="0"/>
          </a:p>
        </p:txBody>
      </p:sp>
      <p:sp>
        <p:nvSpPr>
          <p:cNvPr id="26" name="연결 4"/>
          <p:cNvSpPr/>
          <p:nvPr/>
        </p:nvSpPr>
        <p:spPr>
          <a:xfrm>
            <a:off x="5577840" y="329184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77840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재확인</a:t>
            </a:r>
            <a:endParaRPr lang="en-US" sz="1100" dirty="0"/>
          </a:p>
        </p:txBody>
      </p:sp>
      <p:sp>
        <p:nvSpPr>
          <p:cNvPr id="28" name="기능 카드 5"/>
          <p:cNvSpPr/>
          <p:nvPr/>
        </p:nvSpPr>
        <p:spPr>
          <a:xfrm>
            <a:off x="7095744" y="1234440"/>
            <a:ext cx="1572768" cy="25146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32904" y="1325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7232904" y="1828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도움이 필요해요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232904" y="24231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걱정될 때 어른이나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 창구로 이어 줘요</a:t>
            </a:r>
            <a:endParaRPr lang="en-US" sz="1100" dirty="0"/>
          </a:p>
        </p:txBody>
      </p:sp>
      <p:sp>
        <p:nvSpPr>
          <p:cNvPr id="32" name="연결 5"/>
          <p:cNvSpPr/>
          <p:nvPr/>
        </p:nvSpPr>
        <p:spPr>
          <a:xfrm>
            <a:off x="7232904" y="329184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32904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</a:t>
            </a:r>
            <a:endParaRPr lang="en-US" sz="1100" dirty="0"/>
          </a:p>
        </p:txBody>
      </p:sp>
      <p:sp>
        <p:nvSpPr>
          <p:cNvPr id="34" name="배너"/>
          <p:cNvSpPr/>
          <p:nvPr/>
        </p:nvSpPr>
        <p:spPr>
          <a:xfrm>
            <a:off x="475488" y="3931920"/>
            <a:ext cx="8193024" cy="502920"/>
          </a:xfrm>
          <a:prstGeom prst="roundRect">
            <a:avLst>
              <a:gd name="adj" fmla="val 18182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5488" y="3931920"/>
            <a:ext cx="8193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많이 넣는 것보다, 어떤 판단을 돕는지가 중요해요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3 · 안전 화면 설계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Design</a:t>
            </a:r>
            <a:endParaRPr lang="en-US" sz="2800" dirty="0"/>
          </a:p>
        </p:txBody>
      </p:sp>
      <p:sp>
        <p:nvSpPr>
          <p:cNvPr id="4" name="화면 카드"/>
          <p:cNvSpPr/>
          <p:nvPr/>
        </p:nvSpPr>
        <p:spPr>
          <a:xfrm>
            <a:off x="475488" y="1234440"/>
            <a:ext cx="4114800" cy="3154680"/>
          </a:xfrm>
          <a:prstGeom prst="roundRect">
            <a:avLst>
              <a:gd name="adj" fmla="val 405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미리보기 라벨"/>
          <p:cNvSpPr/>
          <p:nvPr/>
        </p:nvSpPr>
        <p:spPr>
          <a:xfrm>
            <a:off x="777240" y="146304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미리보기</a:t>
            </a:r>
            <a:endParaRPr lang="en-US" sz="1300" dirty="0"/>
          </a:p>
        </p:txBody>
      </p:sp>
      <p:sp>
        <p:nvSpPr>
          <p:cNvPr id="7" name="미리보기 자리"/>
          <p:cNvSpPr/>
          <p:nvPr/>
        </p:nvSpPr>
        <p:spPr>
          <a:xfrm>
            <a:off x="777240" y="20116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77240" y="20116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고른 기능이 화면에 어떻게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보이는지 확인해요</a:t>
            </a:r>
            <a:endParaRPr lang="en-US" sz="1500" dirty="0"/>
          </a:p>
        </p:txBody>
      </p:sp>
      <p:sp>
        <p:nvSpPr>
          <p:cNvPr id="9" name="방법 카드"/>
          <p:cNvSpPr/>
          <p:nvPr/>
        </p:nvSpPr>
        <p:spPr>
          <a:xfrm>
            <a:off x="4846320" y="1234440"/>
            <a:ext cx="3822192" cy="3154680"/>
          </a:xfrm>
          <a:prstGeom prst="roundRect">
            <a:avLst>
              <a:gd name="adj" fmla="val 3478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0" name="미션 라벨"/>
          <p:cNvSpPr/>
          <p:nvPr/>
        </p:nvSpPr>
        <p:spPr>
          <a:xfrm>
            <a:off x="5120640" y="1417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1417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9202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기능을 2개 이상 골라요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미리보기로 모습을 확인해요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기능이 판단을 돕는 이유를 써요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9분 · 웹앱 활동 3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짝 점검 · 내 화면, 괜찮을까?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Peer Check</a:t>
            </a:r>
            <a:endParaRPr lang="en-US" sz="2800" dirty="0"/>
          </a:p>
        </p:txBody>
      </p:sp>
      <p:sp>
        <p:nvSpPr>
          <p:cNvPr id="4" name="점검 카드 1"/>
          <p:cNvSpPr/>
          <p:nvPr/>
        </p:nvSpPr>
        <p:spPr>
          <a:xfrm>
            <a:off x="475488" y="118872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298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이유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정보가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보였는지 알 수 있나요?</a:t>
            </a:r>
            <a:endParaRPr lang="en-US" sz="1500" dirty="0"/>
          </a:p>
        </p:txBody>
      </p:sp>
      <p:sp>
        <p:nvSpPr>
          <p:cNvPr id="7" name="점검 카드 2"/>
          <p:cNvSpPr/>
          <p:nvPr/>
        </p:nvSpPr>
        <p:spPr>
          <a:xfrm>
            <a:off x="4590288" y="118872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4608" y="1298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만든 정보인지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 수 있나요?</a:t>
            </a:r>
            <a:endParaRPr lang="en-US" sz="1500" dirty="0"/>
          </a:p>
        </p:txBody>
      </p:sp>
      <p:sp>
        <p:nvSpPr>
          <p:cNvPr id="10" name="점검 카드 3"/>
          <p:cNvSpPr/>
          <p:nvPr/>
        </p:nvSpPr>
        <p:spPr>
          <a:xfrm>
            <a:off x="475488" y="256032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대안 정보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063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정보를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찾아볼 수 있나요?</a:t>
            </a:r>
            <a:endParaRPr lang="en-US" sz="1500" dirty="0"/>
          </a:p>
        </p:txBody>
      </p:sp>
      <p:sp>
        <p:nvSpPr>
          <p:cNvPr id="13" name="점검 카드 4"/>
          <p:cNvSpPr/>
          <p:nvPr/>
        </p:nvSpPr>
        <p:spPr>
          <a:xfrm>
            <a:off x="4590288" y="256032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 요청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3063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도움이 필요할 때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어디로 갈지 알 수 있나요?</a:t>
            </a:r>
            <a:endParaRPr lang="en-US" sz="1500" dirty="0"/>
          </a:p>
        </p:txBody>
      </p:sp>
      <p:sp>
        <p:nvSpPr>
          <p:cNvPr id="16" name="안내 카드"/>
          <p:cNvSpPr/>
          <p:nvPr/>
        </p:nvSpPr>
        <p:spPr>
          <a:xfrm>
            <a:off x="475488" y="3931920"/>
            <a:ext cx="8193024" cy="548640"/>
          </a:xfrm>
          <a:prstGeom prst="roundRect">
            <a:avLst>
              <a:gd name="adj" fmla="val 20000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77240" y="3931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짝 점검 6분 · 짝이 어려우면 자기 점검으로 해요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고치고, 이야기해요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Improve &amp; Share</a:t>
            </a:r>
            <a:endParaRPr lang="en-US" sz="2800" dirty="0"/>
          </a:p>
        </p:txBody>
      </p:sp>
      <p:sp>
        <p:nvSpPr>
          <p:cNvPr id="4" name="활동 카드 1"/>
          <p:cNvSpPr/>
          <p:nvPr/>
        </p:nvSpPr>
        <p:spPr>
          <a:xfrm>
            <a:off x="475488" y="123444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활동 라벨 1"/>
          <p:cNvSpPr/>
          <p:nvPr/>
        </p:nvSpPr>
        <p:spPr>
          <a:xfrm>
            <a:off x="749808" y="141732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417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· 5분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920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기능을 바꾸거나 설명을 보완하고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수정한 이유를 써요</a:t>
            </a:r>
            <a:endParaRPr lang="en-US" sz="1600" dirty="0"/>
          </a:p>
        </p:txBody>
      </p:sp>
      <p:sp>
        <p:nvSpPr>
          <p:cNvPr id="8" name="활동 카드 2"/>
          <p:cNvSpPr/>
          <p:nvPr/>
        </p:nvSpPr>
        <p:spPr>
          <a:xfrm>
            <a:off x="4590288" y="123444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활동 라벨 2"/>
          <p:cNvSpPr/>
          <p:nvPr/>
        </p:nvSpPr>
        <p:spPr>
          <a:xfrm>
            <a:off x="4864608" y="141732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4608" y="1417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 · 4분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1920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2~3명이 선택한 기능과 이유,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수정한 점을 발표해요</a:t>
            </a:r>
            <a:endParaRPr lang="en-US" sz="1600" dirty="0"/>
          </a:p>
        </p:txBody>
      </p:sp>
      <p:sp>
        <p:nvSpPr>
          <p:cNvPr id="12" name="발문 카드"/>
          <p:cNvSpPr/>
          <p:nvPr/>
        </p:nvSpPr>
        <p:spPr>
          <a:xfrm>
            <a:off x="475488" y="3200400"/>
            <a:ext cx="8193024" cy="1234440"/>
          </a:xfrm>
          <a:prstGeom prst="roundRect">
            <a:avLst>
              <a:gd name="adj" fmla="val 8889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3" name="발문 라벨"/>
          <p:cNvSpPr/>
          <p:nvPr/>
        </p:nvSpPr>
        <p:spPr>
          <a:xfrm>
            <a:off x="731520" y="3364992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36499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기능이 있어도 이용자가 쓰지 않으면 어떻게 될까요?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플랫폼이 할 일과 내가 할 일은 무엇일까요?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4 · 새 메시지, 혼자 판단해요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Check-up</a:t>
            </a:r>
            <a:endParaRPr lang="en-US" sz="2800" dirty="0"/>
          </a:p>
        </p:txBody>
      </p:sp>
      <p:sp>
        <p:nvSpPr>
          <p:cNvPr id="4" name="메시지 카드"/>
          <p:cNvSpPr/>
          <p:nvPr/>
        </p:nvSpPr>
        <p:spPr>
          <a:xfrm>
            <a:off x="475488" y="1234440"/>
            <a:ext cx="4114800" cy="3154680"/>
          </a:xfrm>
          <a:prstGeom prst="roundRect">
            <a:avLst>
              <a:gd name="adj" fmla="val 405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메시지 라벨"/>
          <p:cNvSpPr/>
          <p:nvPr/>
        </p:nvSpPr>
        <p:spPr>
          <a:xfrm>
            <a:off x="777240" y="146304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수업용 가상 메시지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“친구도 추천한 집중력 제품! 성분과 출처는 비공개. 지금 비밀 연락하면 받을 수 있어요.”</a:t>
            </a:r>
            <a:endParaRPr lang="en-US" sz="1800" dirty="0"/>
          </a:p>
        </p:txBody>
      </p:sp>
      <p:sp>
        <p:nvSpPr>
          <p:cNvPr id="8" name="방법 카드"/>
          <p:cNvSpPr/>
          <p:nvPr/>
        </p:nvSpPr>
        <p:spPr>
          <a:xfrm>
            <a:off x="4846320" y="1234440"/>
            <a:ext cx="3822192" cy="3154680"/>
          </a:xfrm>
          <a:prstGeom prst="roundRect">
            <a:avLst>
              <a:gd name="adj" fmla="val 3478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9" name="방법 라벨"/>
          <p:cNvSpPr/>
          <p:nvPr/>
        </p:nvSpPr>
        <p:spPr>
          <a:xfrm>
            <a:off x="5120640" y="1417320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417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TO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9202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단서 2개 이상을 골라요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행동 1개 이상을 골라요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설득 방식을 써요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친구에게 할 말, 도움을 요청할 사람을 써요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3886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7분 · 개인 활동 · 웹앱 활동 4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제출하고 마무리해요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Submit</a:t>
            </a:r>
            <a:endParaRPr lang="en-US" sz="2800" dirty="0"/>
          </a:p>
        </p:txBody>
      </p:sp>
      <p:sp>
        <p:nvSpPr>
          <p:cNvPr id="4" name="제출 카드"/>
          <p:cNvSpPr/>
          <p:nvPr/>
        </p:nvSpPr>
        <p:spPr>
          <a:xfrm>
            <a:off x="475488" y="1234440"/>
            <a:ext cx="3931920" cy="3154680"/>
          </a:xfrm>
          <a:prstGeom prst="roundRect">
            <a:avLst>
              <a:gd name="adj" fmla="val 405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제출 라벨"/>
          <p:cNvSpPr/>
          <p:nvPr/>
        </p:nvSpPr>
        <p:spPr>
          <a:xfrm>
            <a:off x="777240" y="146304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제출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전원 제출한 뒤에 접수가 끝나요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중에는 새로고침하지 않아요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제출이 안 되면 다시 제출해요</a:t>
            </a:r>
            <a:endParaRPr lang="en-US" sz="1500" dirty="0"/>
          </a:p>
        </p:txBody>
      </p:sp>
      <p:sp>
        <p:nvSpPr>
          <p:cNvPr id="8" name="안내 카드"/>
          <p:cNvSpPr/>
          <p:nvPr/>
        </p:nvSpPr>
        <p:spPr>
          <a:xfrm>
            <a:off x="4663440" y="1234440"/>
            <a:ext cx="4005072" cy="3154680"/>
          </a:xfrm>
          <a:prstGeom prst="roundRect">
            <a:avLst>
              <a:gd name="adj" fmla="val 3478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9" name="도움 라벨"/>
          <p:cNvSpPr/>
          <p:nvPr/>
        </p:nvSpPr>
        <p:spPr>
          <a:xfrm>
            <a:off x="4937760" y="1417320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173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HELP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0116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위험해 보이면 멈추고 확인해요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고민하지 말고 말해요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담임 · 보건 · 상담 선생님, 보호자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줄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위험해 보이는 메시지를 만나면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나는 먼저 무엇을 할까?</a:t>
            </a:r>
            <a:endParaRPr lang="en-US" sz="4400" dirty="0"/>
          </a:p>
        </p:txBody>
      </p:sp>
      <p:sp>
        <p:nvSpPr>
          <p:cNvPr id="5" name="위 구분선"/>
          <p:cNvSpPr/>
          <p:nvPr/>
        </p:nvSpPr>
        <p:spPr>
          <a:xfrm>
            <a:off x="1828800" y="3337560"/>
            <a:ext cx="5486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3401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34015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사례 분석 · 캠페인</a:t>
            </a:r>
            <a:endParaRPr lang="en-US" sz="1400" dirty="0"/>
          </a:p>
        </p:txBody>
      </p:sp>
      <p:sp>
        <p:nvSpPr>
          <p:cNvPr id="8" name="아래 구분선"/>
          <p:cNvSpPr/>
          <p:nvPr/>
        </p:nvSpPr>
        <p:spPr>
          <a:xfrm>
            <a:off x="1828800" y="3904488"/>
            <a:ext cx="5486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4160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걱정되는 일이 있거나 도움이 필요하면 담임 · 보건 · 상담 선생님께 편하게 말해요.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오색렌즈 리포트">
  <a:themeElements>
    <a:clrScheme name="오색렌즈 리포트">
      <a:dk1>
        <a:srgbClr val="333333"/>
      </a:dk1>
      <a:lt1>
        <a:srgbClr val="FFFFFF"/>
      </a:lt1>
      <a:dk2>
        <a:srgbClr val="555555"/>
      </a:dk2>
      <a:lt2>
        <a:srgbClr val="F3F3F3"/>
      </a:lt2>
      <a:accent1>
        <a:srgbClr val="FF6B35"/>
      </a:accent1>
      <a:accent2>
        <a:srgbClr val="FF9E7A"/>
      </a:accent2>
      <a:accent3>
        <a:srgbClr val="FDEBE1"/>
      </a:accent3>
      <a:accent4>
        <a:srgbClr val="7FB0FF"/>
      </a:accent4>
      <a:accent5>
        <a:srgbClr val="777777"/>
      </a:accent5>
      <a:accent6>
        <a:srgbClr val="C9C9C9"/>
      </a:accent6>
      <a:hlink>
        <a:srgbClr val="FF6B35"/>
      </a:hlink>
      <a:folHlink>
        <a:srgbClr val="777777"/>
      </a:folHlink>
    </a:clrScheme>
    <a:fontScheme name="오색렌즈 리포트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유해정보 리터러시 5차시</dc:title>
  <dc:subject>PptxGenJS Presentation</dc:subject>
  <dc:creator>오색렌즈 교사연구회</dc:creator>
  <cp:lastModifiedBy>오색렌즈 교사연구회</cp:lastModifiedBy>
  <cp:revision>1</cp:revision>
  <dcterms:created xsi:type="dcterms:W3CDTF">2026-10-13T03:29:16Z</dcterms:created>
  <dcterms:modified xsi:type="dcterms:W3CDTF">2026-10-13T03:29:16Z</dcterms:modified>
</cp:coreProperties>
</file>