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c55c6bc-1ef5-dbac-b9ed-f32f2d9aa46e}">
          <p14:sldIdLst>
            <p14:sldId id="256"/>
          </p14:sldIdLst>
        </p14:section>
        <p14:section name="도입" id="{27ff6637-70d7-cf64-043a-eda9845c2263}">
          <p14:sldIdLst>
            <p14:sldId id="257"/>
            <p14:sldId id="258"/>
            <p14:sldId id="259"/>
          </p14:sldIdLst>
        </p14:section>
        <p14:section name="전개" id="{fce01170-40e7-bd74-115c-109653814d48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정리" id="{f1d72050-120c-4282-e7b4-c194615440e4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도입으로 넘어갑니다. 이 수업은 ‘후기와 협찬은 나쁘다’가 아니라 ‘누가, 어떤 대가로 말하는지 알고 읽는다’에 초점을 둡니다. 모든 후기·계정·제품은 수업용 가상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(4분 중 약 1분). 2차시의 출처 따라가기 3단계와 정보 5문을 떠올립니다. 오늘은 ① 출처(누가 썼나), ③ 의도(이 사람이 얻는 것), ⑤ 재확인(후기 말고 공식 안내)을 후기·협찬 관점으로 적용합니다.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(약 2분). 활동지 1쪽 활동 1. 후기는 모두 수업용 가상 사례입니다. 교사 참고: A는 칭찬 일색이고 기간·단점이 없습니다. B는 협찬 표시가 맨 끝에 작게 있지만 기간·단점·비교가 있어 정보 가치가 있습니다. 협찬이라는 이유만으로 거짓이라고 단정하지 않습니다. 학생이 실제로 보는 계정은 언급하지 않도록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(2분). 학생 의견을 바탕으로 학습문제를 제시하고 학습목표를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(5분, 사서교사). 활동지 1쪽 후기의 세 종류 표. 광고 표시와 관련한 법·지침의 구체적 내용은 단정하여 말하지 않습니다(확인 필요). 교사가 필요하면 공식 자료로 확인해 안내하세요. 특정 제품·계정·플랫폼명은 제시하지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 (9분). 모둠(4명)별로 서로 다른 세트를 나눠 줍니다. 순회하며 “이 사람이 얻는 것은 무엇일까?”를 묻습니다. 교사 참고(발표 전에 알려 주지 않음): 세트 1 – 칭찬 일색·단점 없음·사용 기간 없음·프로필 구매 링크 유도, 광고성 후기 의심. 세트 2 – 협찬 표시가 맨 끝에 작게 있으나 기간·단점·비교가 있어 협찬 후기이지만 정보 가치가 있음. 세트 3 – 같은 날 세 계정의 거의 같은 문장, 반복 문구로 신뢰 낮음, 추가 확인 필요. 세트 4 – 영상 내내 칭찬하고 설명란 맨 아래 작은 글씨에 대가 구조(할인 코드 수익), 알고 보면 광고성. 카드는 모두 재구성한 가상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1~2. 활동지 1쪽 단서 4가지 표와 같은 내용입니다. 모둠 활동 전에 확인하거나 활동 중에 띄워 둡니다. 과장·단정 표현은 6차시의 5유형(단정·속도·전후·권위·재촉)과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3 (4분). 모둠이 발표하기 전에는 이 장을 보여 주지 않습니다. 이 장의 판정은 예시이며 정답 하나가 아닙니다. 학생의 단서가 타당하면 인정합니다. 추가 확인이 필요한 경우가 많음을 자연스럽게 받아들이도록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(7분 중 약 4분, 사서교사). 활동지 3쪽 활동 3. 세트 4(영상 후기)로 시범을 보이고 빈칸(㉡ 공식 / ㉢ 후기)을 채웁니다. 원래 자료를 찾는 곳은 기관 누리집·제품 정보·도서관 자료 검색 같은 일반 기능어로 안내하고 특정 사이트 주소는 제시하지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5 (4분). 활동지 3쪽 활동 4. 위 문구는 예시이며 학생 의견이 우선입니다. 새 문항을 늘리지 않고 기존 5문을 구체화합니다.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1 (7분). 개인 활동. 교사 참고(정답 하나가 아님): 단서 – 효과 단정, 구매 링크 유도, 사은품 유도, 같은 제품 후기만 반복, 사용 기간·단점 없음. 판정 – 광고성 후기 의심. 판단 – ‘추가 확인 필요’ 또는 ‘위험·행동 보류’ 모두 근거가 타당하면 인정. 확인 방법 – 공식 안내·제품 정보 찾기, 다른 후기와 견주기, 사기 전에 보호자·약사·의사·선생님과 상의. 후기 속 문구는 모두 가상이며 실제 구매·연락은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 (3분). 활동지 4쪽 “좋다는 후기를 만나면 나는 먼저 ____ 한다. 왜냐하면 ____ 이기 때문이다.”를 작성합니다. 다음 차시(사회+보건)는 정보를 믿고 피해를 입었거나 친구가 위험할 때의 대응을 다룹니다. 이 수업의 후기·계정·제품은 모두 가상 사례임을 다시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“써 봤더니 좋아요”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뒤에는 누가 있을까?</a:t>
            </a:r>
            <a:endParaRPr lang="en-US" sz="52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 + 사서 (협력)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07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시간까지의 수사 도구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Review</a:t>
            </a:r>
            <a:endParaRPr lang="en-US" sz="2800" dirty="0"/>
          </a:p>
        </p:txBody>
      </p:sp>
      <p:sp>
        <p:nvSpPr>
          <p:cNvPr id="4" name="강조 카드 1"/>
          <p:cNvSpPr/>
          <p:nvPr/>
        </p:nvSpPr>
        <p:spPr>
          <a:xfrm>
            <a:off x="475488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만들었나?</a:t>
            </a:r>
            <a:endParaRPr lang="en-US" sz="1500" dirty="0"/>
          </a:p>
        </p:txBody>
      </p:sp>
      <p:sp>
        <p:nvSpPr>
          <p:cNvPr id="8" name="체크 카드 2"/>
          <p:cNvSpPr/>
          <p:nvPr/>
        </p:nvSpPr>
        <p:spPr>
          <a:xfrm>
            <a:off x="2130552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5144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9514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95144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있나?</a:t>
            </a:r>
            <a:endParaRPr lang="en-US" sz="1500" dirty="0"/>
          </a:p>
        </p:txBody>
      </p:sp>
      <p:sp>
        <p:nvSpPr>
          <p:cNvPr id="12" name="강조 카드 3"/>
          <p:cNvSpPr/>
          <p:nvPr/>
        </p:nvSpPr>
        <p:spPr>
          <a:xfrm>
            <a:off x="3785616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원하나?</a:t>
            </a:r>
            <a:endParaRPr lang="en-US" sz="1500" dirty="0"/>
          </a:p>
        </p:txBody>
      </p:sp>
      <p:sp>
        <p:nvSpPr>
          <p:cNvPr id="16" name="체크 카드 4"/>
          <p:cNvSpPr/>
          <p:nvPr/>
        </p:nvSpPr>
        <p:spPr>
          <a:xfrm>
            <a:off x="5440680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05272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05272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말하고 있나?</a:t>
            </a:r>
            <a:endParaRPr lang="en-US" sz="1500" dirty="0"/>
          </a:p>
        </p:txBody>
      </p:sp>
      <p:sp>
        <p:nvSpPr>
          <p:cNvPr id="20" name="강조 카드 5"/>
          <p:cNvSpPr/>
          <p:nvPr/>
        </p:nvSpPr>
        <p:spPr>
          <a:xfrm>
            <a:off x="7095744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0336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확인되나?</a:t>
            </a:r>
            <a:endParaRPr lang="en-US" sz="1500" dirty="0"/>
          </a:p>
        </p:txBody>
      </p:sp>
      <p:sp>
        <p:nvSpPr>
          <p:cNvPr id="24" name="배너"/>
          <p:cNvSpPr/>
          <p:nvPr/>
        </p:nvSpPr>
        <p:spPr>
          <a:xfrm>
            <a:off x="475488" y="3794760"/>
            <a:ext cx="8193024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3794760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① 출처 · ③ 의도 · ⑤ 재확인을 후기에 적용해요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3초 후기 비교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Warm-up</a:t>
            </a:r>
            <a:endParaRPr lang="en-US" sz="2800" dirty="0"/>
          </a:p>
        </p:txBody>
      </p:sp>
      <p:sp>
        <p:nvSpPr>
          <p:cNvPr id="4" name="후기 A 카드"/>
          <p:cNvSpPr/>
          <p:nvPr/>
        </p:nvSpPr>
        <p:spPr>
          <a:xfrm>
            <a:off x="475488" y="123444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후기 A 라벨"/>
          <p:cNvSpPr/>
          <p:nvPr/>
        </p:nvSpPr>
        <p:spPr>
          <a:xfrm>
            <a:off x="731520" y="14173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“대박!! 완전 강추!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 하나도 없어요!”</a:t>
            </a:r>
            <a:endParaRPr lang="en-US" sz="1800" dirty="0"/>
          </a:p>
        </p:txBody>
      </p:sp>
      <p:sp>
        <p:nvSpPr>
          <p:cNvPr id="8" name="후기 B 카드"/>
          <p:cNvSpPr/>
          <p:nvPr/>
        </p:nvSpPr>
        <p:spPr>
          <a:xfrm>
            <a:off x="4736592" y="123444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후기 B 라벨"/>
          <p:cNvSpPr/>
          <p:nvPr/>
        </p:nvSpPr>
        <p:spPr>
          <a:xfrm>
            <a:off x="4992624" y="14173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92624" y="1417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92624" y="1920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“3주 써 본 후기예요. 첫 주는 잘 모르겠고 3주 차부터 조금 나아진 느낌. 향이 강한 점이 아쉬워요. (#제품 제공)”</a:t>
            </a:r>
            <a:endParaRPr lang="en-US" sz="1300" dirty="0"/>
          </a:p>
        </p:txBody>
      </p:sp>
      <p:sp>
        <p:nvSpPr>
          <p:cNvPr id="12" name="발문 카드"/>
          <p:cNvSpPr/>
          <p:nvPr/>
        </p:nvSpPr>
        <p:spPr>
          <a:xfrm>
            <a:off x="475488" y="3474720"/>
            <a:ext cx="8193024" cy="960120"/>
          </a:xfrm>
          <a:prstGeom prst="roundRect">
            <a:avLst>
              <a:gd name="adj" fmla="val 11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3" name="발문 라벨"/>
          <p:cNvSpPr/>
          <p:nvPr/>
        </p:nvSpPr>
        <p:spPr>
          <a:xfrm>
            <a:off x="731520" y="361188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11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77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믿을 만한 정도를 표시해요. 이 후기를 쓴 사람은 어떤 이득이 있을까요?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후기·체험담·협찬 뒤에 숨은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사람과 조건을 어떻게 알아볼까?</a:t>
            </a:r>
            <a:endParaRPr lang="en-US" sz="28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구분하기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후기·협찬 후기·광고성 후기를 가려요.</a:t>
            </a:r>
            <a:endParaRPr lang="en-US" sz="14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수사하기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빠진 정보와 반복되는 문구, 대가를 찾아요.</a:t>
            </a:r>
            <a:endParaRPr lang="en-US" sz="14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따라가기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따라가기로 후기를 다시 확인해요.</a:t>
            </a:r>
            <a:endParaRPr lang="en-US" sz="14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후기의 세 종류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Three Types</a:t>
            </a:r>
            <a:endParaRPr lang="en-US" sz="2800" dirty="0"/>
          </a:p>
        </p:txBody>
      </p:sp>
      <p:sp>
        <p:nvSpPr>
          <p:cNvPr id="4" name="종류 카드 1"/>
          <p:cNvSpPr/>
          <p:nvPr/>
        </p:nvSpPr>
        <p:spPr>
          <a:xfrm>
            <a:off x="475488" y="1234440"/>
            <a:ext cx="261518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㉠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써 본 후기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사서 써 보고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쓴 경험</a:t>
            </a:r>
            <a:endParaRPr lang="en-US" sz="1300" dirty="0"/>
          </a:p>
        </p:txBody>
      </p:sp>
      <p:sp>
        <p:nvSpPr>
          <p:cNvPr id="8" name="종류 카드 2"/>
          <p:cNvSpPr/>
          <p:nvPr/>
        </p:nvSpPr>
        <p:spPr>
          <a:xfrm>
            <a:off x="3264408" y="1234440"/>
            <a:ext cx="261518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㉡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 후기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제품을 받거나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대가를 받고 쓴 후기</a:t>
            </a:r>
            <a:endParaRPr lang="en-US" sz="1300" dirty="0"/>
          </a:p>
        </p:txBody>
      </p:sp>
      <p:sp>
        <p:nvSpPr>
          <p:cNvPr id="12" name="종류 카드 3"/>
          <p:cNvSpPr/>
          <p:nvPr/>
        </p:nvSpPr>
        <p:spPr>
          <a:xfrm>
            <a:off x="6053328" y="1234440"/>
            <a:ext cx="261518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㉢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광고를 후기처럼 쓴 글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팔기 위해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후기처럼 만든 글</a:t>
            </a:r>
            <a:endParaRPr lang="en-US" sz="1300" dirty="0"/>
          </a:p>
        </p:txBody>
      </p:sp>
      <p:sp>
        <p:nvSpPr>
          <p:cNvPr id="16" name="결론 배너"/>
          <p:cNvSpPr/>
          <p:nvPr/>
        </p:nvSpPr>
        <p:spPr>
          <a:xfrm>
            <a:off x="475488" y="3657600"/>
            <a:ext cx="8193024" cy="777240"/>
          </a:xfrm>
          <a:prstGeom prst="roundRect">
            <a:avLst>
              <a:gd name="adj" fmla="val 11765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" y="3657600"/>
            <a:ext cx="819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대가(협찬·제공·할인 코드·판매 링크)가 있다면 알려야 해요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수사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Group Mission</a:t>
            </a:r>
            <a:endParaRPr lang="en-US" sz="2800" dirty="0"/>
          </a:p>
        </p:txBody>
      </p:sp>
      <p:sp>
        <p:nvSpPr>
          <p:cNvPr id="4" name="세트 카드 1"/>
          <p:cNvSpPr/>
          <p:nvPr/>
        </p:nvSpPr>
        <p:spPr>
          <a:xfrm>
            <a:off x="47548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후기 카드</a:t>
            </a:r>
            <a:endParaRPr lang="en-US" sz="1600" dirty="0"/>
          </a:p>
        </p:txBody>
      </p:sp>
      <p:sp>
        <p:nvSpPr>
          <p:cNvPr id="7" name="세트 카드 2"/>
          <p:cNvSpPr/>
          <p:nvPr/>
        </p:nvSpPr>
        <p:spPr>
          <a:xfrm>
            <a:off x="280720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후기 카드</a:t>
            </a:r>
            <a:endParaRPr lang="en-US" sz="1600" dirty="0"/>
          </a:p>
        </p:txBody>
      </p:sp>
      <p:sp>
        <p:nvSpPr>
          <p:cNvPr id="10" name="세트 카드 3"/>
          <p:cNvSpPr/>
          <p:nvPr/>
        </p:nvSpPr>
        <p:spPr>
          <a:xfrm>
            <a:off x="47548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후기 카드</a:t>
            </a:r>
            <a:endParaRPr lang="en-US" sz="1600" dirty="0"/>
          </a:p>
        </p:txBody>
      </p:sp>
      <p:sp>
        <p:nvSpPr>
          <p:cNvPr id="13" name="세트 카드 4"/>
          <p:cNvSpPr/>
          <p:nvPr/>
        </p:nvSpPr>
        <p:spPr>
          <a:xfrm>
            <a:off x="280720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후기 카드</a:t>
            </a:r>
            <a:endParaRPr lang="en-US" sz="1600" dirty="0"/>
          </a:p>
        </p:txBody>
      </p:sp>
      <p:sp>
        <p:nvSpPr>
          <p:cNvPr id="16" name="미션 방법 카드"/>
          <p:cNvSpPr/>
          <p:nvPr/>
        </p:nvSpPr>
        <p:spPr>
          <a:xfrm>
            <a:off x="5212080" y="123444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미션 라벨"/>
          <p:cNvSpPr/>
          <p:nvPr/>
        </p:nvSpPr>
        <p:spPr>
          <a:xfrm>
            <a:off x="5468112" y="1417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68112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1920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단서 4가지를 표시해요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판정을 하나 골라요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 단서와 더 확인할 것을 써요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68112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9분 · 모둠 활동지(활동 2)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후기에서 살펴볼 단서 4가지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Four Clues</a:t>
            </a:r>
            <a:endParaRPr lang="en-US" sz="2800" dirty="0"/>
          </a:p>
        </p:txBody>
      </p:sp>
      <p:sp>
        <p:nvSpPr>
          <p:cNvPr id="4" name="단서 카드 1"/>
          <p:cNvSpPr/>
          <p:nvPr/>
        </p:nvSpPr>
        <p:spPr>
          <a:xfrm>
            <a:off x="47548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썼나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제품을 받았나?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대가가 있나?</a:t>
            </a:r>
            <a:endParaRPr lang="en-US" sz="1200" dirty="0"/>
          </a:p>
        </p:txBody>
      </p:sp>
      <p:sp>
        <p:nvSpPr>
          <p:cNvPr id="8" name="단서 카드 2"/>
          <p:cNvSpPr/>
          <p:nvPr/>
        </p:nvSpPr>
        <p:spPr>
          <a:xfrm>
            <a:off x="257860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77977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빠졌나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7977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기간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 · 비교</a:t>
            </a:r>
            <a:endParaRPr lang="en-US" sz="1200" dirty="0"/>
          </a:p>
        </p:txBody>
      </p:sp>
      <p:sp>
        <p:nvSpPr>
          <p:cNvPr id="12" name="단서 카드 3"/>
          <p:cNvSpPr/>
          <p:nvPr/>
        </p:nvSpPr>
        <p:spPr>
          <a:xfrm>
            <a:off x="468172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8289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8289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말하나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“확” “대박” “강추”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과장·단정</a:t>
            </a:r>
            <a:endParaRPr lang="en-US" sz="1200" dirty="0"/>
          </a:p>
        </p:txBody>
      </p:sp>
      <p:sp>
        <p:nvSpPr>
          <p:cNvPr id="16" name="단서 카드 4"/>
          <p:cNvSpPr/>
          <p:nvPr/>
        </p:nvSpPr>
        <p:spPr>
          <a:xfrm>
            <a:off x="678484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8601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반복·대가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8601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문장 반복?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글씨에 숨은 대가?</a:t>
            </a:r>
            <a:endParaRPr lang="en-US" sz="1200" dirty="0"/>
          </a:p>
        </p:txBody>
      </p:sp>
      <p:sp>
        <p:nvSpPr>
          <p:cNvPr id="20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협찬이 있다고 거짓은 아니에요. 숨기지 않았는지가 중요해요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 결과 비교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Results</a:t>
            </a:r>
            <a:endParaRPr lang="en-US" sz="2800" dirty="0"/>
          </a:p>
        </p:txBody>
      </p:sp>
      <p:sp>
        <p:nvSpPr>
          <p:cNvPr id="4" name="결과 행 1"/>
          <p:cNvSpPr/>
          <p:nvPr/>
        </p:nvSpPr>
        <p:spPr>
          <a:xfrm>
            <a:off x="475488" y="1188720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1887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칭찬 일색 · 기간·단점 없음 · 프로필 링크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188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광고성 후기 의심</a:t>
            </a:r>
            <a:endParaRPr lang="en-US" sz="1300" dirty="0"/>
          </a:p>
        </p:txBody>
      </p:sp>
      <p:sp>
        <p:nvSpPr>
          <p:cNvPr id="8" name="결과 행 2"/>
          <p:cNvSpPr/>
          <p:nvPr/>
        </p:nvSpPr>
        <p:spPr>
          <a:xfrm>
            <a:off x="475488" y="1810512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1051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81051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 표시(작게) · 기간·단점·비교 있음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105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 후기 · 정보 가치 있음</a:t>
            </a:r>
            <a:endParaRPr lang="en-US" sz="1300" dirty="0"/>
          </a:p>
        </p:txBody>
      </p:sp>
      <p:sp>
        <p:nvSpPr>
          <p:cNvPr id="12" name="결과 행 3"/>
          <p:cNvSpPr/>
          <p:nvPr/>
        </p:nvSpPr>
        <p:spPr>
          <a:xfrm>
            <a:off x="475488" y="2432304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4323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4323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날 같은 문장 반복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4323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 낮음 · 추가 확인</a:t>
            </a:r>
            <a:endParaRPr lang="en-US" sz="1300" dirty="0"/>
          </a:p>
        </p:txBody>
      </p:sp>
      <p:sp>
        <p:nvSpPr>
          <p:cNvPr id="16" name="결과 행 4"/>
          <p:cNvSpPr/>
          <p:nvPr/>
        </p:nvSpPr>
        <p:spPr>
          <a:xfrm>
            <a:off x="475488" y="3054096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540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0540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설명란 맨 아래 대가 구조(할인 코드)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0540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 보면 광고성</a:t>
            </a:r>
            <a:endParaRPr lang="en-US" sz="1300" dirty="0"/>
          </a:p>
        </p:txBody>
      </p:sp>
      <p:sp>
        <p:nvSpPr>
          <p:cNvPr id="20" name="정리 카드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600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77240" y="37490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표시가 있어도 가치 있는 후기가 있고, 표시가 없어도 의심되는 후기가 있어요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뒤의 출처 따라가기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Follow the Source</a:t>
            </a:r>
            <a:endParaRPr lang="en-US" sz="2800" dirty="0"/>
          </a:p>
        </p:txBody>
      </p:sp>
      <p:sp>
        <p:nvSpPr>
          <p:cNvPr id="4" name="단계 카드 1"/>
          <p:cNvSpPr/>
          <p:nvPr/>
        </p:nvSpPr>
        <p:spPr>
          <a:xfrm>
            <a:off x="47548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썼나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계정, 설명란, 표시를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살펴요</a:t>
            </a:r>
            <a:endParaRPr lang="en-US" sz="1300" dirty="0"/>
          </a:p>
        </p:txBody>
      </p:sp>
      <p:sp>
        <p:nvSpPr>
          <p:cNvPr id="8" name="단계 카드 2"/>
          <p:cNvSpPr/>
          <p:nvPr/>
        </p:nvSpPr>
        <p:spPr>
          <a:xfrm>
            <a:off x="326440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자료 열어 보기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정보·공식 안내가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있는지 찾아요</a:t>
            </a:r>
            <a:endParaRPr lang="en-US" sz="1300" dirty="0"/>
          </a:p>
        </p:txBody>
      </p:sp>
      <p:sp>
        <p:nvSpPr>
          <p:cNvPr id="12" name="단계 카드 3"/>
          <p:cNvSpPr/>
          <p:nvPr/>
        </p:nvSpPr>
        <p:spPr>
          <a:xfrm>
            <a:off x="605332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자료와 견주기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후기와 공식 안내가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내용인지 봐요</a:t>
            </a:r>
            <a:endParaRPr lang="en-US" sz="1300" dirty="0"/>
          </a:p>
        </p:txBody>
      </p:sp>
      <p:sp>
        <p:nvSpPr>
          <p:cNvPr id="16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몸에 닿거나 먹는 제품은 후기만 믿지 않고 어른·전문가에게 확인해요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체크리스트 보완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Our Checklist</a:t>
            </a:r>
            <a:endParaRPr lang="en-US" sz="2800" dirty="0"/>
          </a:p>
        </p:txBody>
      </p:sp>
      <p:sp>
        <p:nvSpPr>
          <p:cNvPr id="4" name="보완 문항 카드"/>
          <p:cNvSpPr/>
          <p:nvPr/>
        </p:nvSpPr>
        <p:spPr>
          <a:xfrm>
            <a:off x="475488" y="123444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덧붙일 문항</a:t>
            </a:r>
            <a:endParaRPr lang="en-US" sz="2000" dirty="0"/>
          </a:p>
        </p:txBody>
      </p:sp>
      <p:sp>
        <p:nvSpPr>
          <p:cNvPr id="6" name="카드 구분선 1"/>
          <p:cNvSpPr/>
          <p:nvPr/>
        </p:nvSpPr>
        <p:spPr>
          <a:xfrm>
            <a:off x="777240" y="1920240"/>
            <a:ext cx="324612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만들었나?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52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52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원하나?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027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60273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 확인되나?</a:t>
            </a:r>
            <a:endParaRPr lang="en-US" sz="1200" dirty="0"/>
          </a:p>
        </p:txBody>
      </p:sp>
      <p:sp>
        <p:nvSpPr>
          <p:cNvPr id="13" name="화살표"/>
          <p:cNvSpPr/>
          <p:nvPr/>
        </p:nvSpPr>
        <p:spPr>
          <a:xfrm>
            <a:off x="4462272" y="2514600"/>
            <a:ext cx="274320" cy="548640"/>
          </a:xfrm>
          <a:prstGeom prst="chevron">
            <a:avLst/>
          </a:prstGeom>
          <a:solidFill>
            <a:srgbClr val="FF9E7A"/>
          </a:solidFill>
          <a:ln w="12700">
            <a:solidFill>
              <a:srgbClr val="FF9E7A"/>
            </a:solidFill>
            <a:prstDash val="solid"/>
          </a:ln>
        </p:spPr>
      </p:sp>
      <p:sp>
        <p:nvSpPr>
          <p:cNvPr id="14" name="문구 예시 카드"/>
          <p:cNvSpPr/>
          <p:nvPr/>
        </p:nvSpPr>
        <p:spPr>
          <a:xfrm>
            <a:off x="4892040" y="1234440"/>
            <a:ext cx="377647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212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문구 예시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</a:t>
            </a:r>
            <a:endParaRPr lang="en-US" sz="1200" dirty="0"/>
          </a:p>
        </p:txBody>
      </p:sp>
      <p:sp>
        <p:nvSpPr>
          <p:cNvPr id="17" name="카드 구분선 2"/>
          <p:cNvSpPr/>
          <p:nvPr/>
        </p:nvSpPr>
        <p:spPr>
          <a:xfrm>
            <a:off x="5212080" y="1920240"/>
            <a:ext cx="313639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1031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썼고, 대가가 있나?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사람이 얻는 것은 무엇일까?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말고 공식 안내로도 확인했나?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931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문항을 늘리지 않고 구체화해요.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후기, 혼자 판단해요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Check-up</a:t>
            </a:r>
            <a:endParaRPr lang="en-US" sz="2800" dirty="0"/>
          </a:p>
        </p:txBody>
      </p:sp>
      <p:sp>
        <p:nvSpPr>
          <p:cNvPr id="4" name="자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자 라벨"/>
          <p:cNvSpPr/>
          <p:nvPr/>
        </p:nvSpPr>
        <p:spPr>
          <a:xfrm>
            <a:off x="777240" y="14630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 · 수업용 가상 후기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“지난주에 샀는데 대박이에요! 먹자마자 효과가 확 느껴져요. 구매는 프로필 링크에서, 제 이름을 말하면 사은품도 줘요!”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[작성 정보] 이 계정의 최근 글 5개는 모두 같은 제품 후기</a:t>
            </a:r>
            <a:endParaRPr lang="en-US" sz="1200" dirty="0"/>
          </a:p>
        </p:txBody>
      </p:sp>
      <p:sp>
        <p:nvSpPr>
          <p:cNvPr id="9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0" name="방법 라벨"/>
          <p:cNvSpPr/>
          <p:nvPr/>
        </p:nvSpPr>
        <p:spPr>
          <a:xfrm>
            <a:off x="5120640" y="141732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116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단서 2개 이상을 골라요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후기의 종류를 판단해요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판단과 확인 방법을 써요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· 개인 활동 · 활동지 4쪽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좋다는 후기를 만나면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먼저 무엇을 할까?</a:t>
            </a:r>
            <a:endParaRPr lang="en-US" sz="44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· 사회 + 보건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피해를 입었을 때, 어떻게 대응할까?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걱정되는 일이 있거나 도움이 필요하면 담임 · 보건 · 상담 선생님께 편하게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7차시</dc:title>
  <dc:subject>PptxGenJS Presentation</dc:subject>
  <dc:creator>오색렌즈 교사연구회</dc:creator>
  <cp:lastModifiedBy>오색렌즈 교사연구회</cp:lastModifiedBy>
  <cp:revision>1</cp:revision>
  <dcterms:created xsi:type="dcterms:W3CDTF">2026-10-13T04:02:36Z</dcterms:created>
  <dcterms:modified xsi:type="dcterms:W3CDTF">2026-10-13T04:02:36Z</dcterms:modified>
</cp:coreProperties>
</file>