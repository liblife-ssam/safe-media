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47ccbb0a-5e6b-f4c6-1e57-3d152f6be48e}">
          <p14:sldIdLst>
            <p14:sldId id="256"/>
          </p14:sldIdLst>
        </p14:section>
        <p14:section name="도입" id="{703a774f-3269-d2fc-138d-30afe50606dd}">
          <p14:sldIdLst>
            <p14:sldId id="257"/>
            <p14:sldId id="258"/>
            <p14:sldId id="259"/>
          </p14:sldIdLst>
        </p14:section>
        <p14:section name="전개" id="{8ecc981a-465a-3b19-a860-15cd6a13630a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정리" id="{17a9823a-da27-9673-15df-baf9d8240dce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후 도입으로 넘어갑니다. 수업 전에 학생 본인이나 친구의 체형·체중을 말하거나 비교하지 않기로 약속합니다. 이 수업은 ‘다이어트가 나쁘다’가 아니라 ‘광고 표현을 읽고 건강하게 선택한다’에 초점을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(4분 중 약 1분). 3~4차시의 “떴다 ≠ 믿을 만하다”와 정보 5문을 떠올립니다. 오늘은 ② 근거, ④ 표현을 중심으로, ⑤ 재확인에는 먹는 제품의 안전한 확인 방법을 덧붙입니다.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(약 2분). 활동지 1쪽 활동 1. 문구는 모두 수업용 가상 사례입니다. 학생 개인의 몸이나 체형 이야기가 나오지 않도록 안내합니다. 교사 참고: A와 B는 끌리기 쉽지만 근거와 조건이 빠져 있고, C는 덜 자극적이지만 출처가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(2분). 학생 의견을 바탕으로 학습문제를 제시하고 학습목표를 확인합니다. ‘다이어트가 나쁘다’가 아니라 ‘광고 표현을 읽고 건강하게 선택한다’에 초점을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1 (5분). 활동지 1쪽 유형표. 각 유형이 어떤 정보를 빠뜨리게 만드는지 묻습니다. ㉢ 전후·체험담은 7차시(후기·체험담·협찬)에서 깊이 다루므로 오늘은 가볍게 확인합니다. 약물 이름·성분·용량·감량 수치는 다루지 않으며 특정 제품·광고주를 가리키지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2 (9분). 모둠(4명)별로 서로 다른 세트를 나눠 줍니다. 순회하며 “이 말을 믿으려면 무엇을 알아야 할까?”를 묻습니다. 교사 참고(발표 전에 알려 주지 않음): 세트 1 – ㉠ 단정(확)·㉡ 속도(일주일), 성분·만든 곳·확인 기관 없음. 세트 2 – ㉢ 전후·체험담, 사진 날짜·조건 없음. 세트 3 – ㉣ 권위(어떤 전문가?)·㉠ 단정(부작용 걱정 없어요), 확인 기관·주의 사항 없음. 세트 4 – ㉤ 재촉(오늘만·마감 임박)과 아주 작은 글씨(개인차가 있을 수 있어요)에 숨은 조건. 카드는 모두 재구성한 가상 사례입니다.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2~3. 이 장은 모둠 활동 전 시범 또는 발표 후 정리용으로 씁니다. 번역은 정답 하나가 아니라 ‘무엇이 빠졌는지’ 말하는 연습입니다. 발표 후 4종 카드의 유형과 빠진 정보를 칠판 표로 정리하고, 한 광고에 여러 유형이 함께 쓰일 수 있음과 작은 글씨에 조건이 숨을 수 있음을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4 (7분 중 약 3분, 보건·가정). 활동지 3쪽 활동 3. 이상적인 체형·체중·식단·운동량 수치는 제시하지 않으며 학생 본인이나 친구의 체형을 언급·비교하지 않습니다. 몸에 대한 걱정이나 먹는 것에 대한 어려움을 표현하는 학생은 개별로 보건·상담 교사에게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4 (이어서). 건강 안내 문구는 수업용 가상 문구이며 실제 기관의 글이 아닙니다. 건강한 몸 관리 정보의 일반 특징(규칙적인 식사·몸을 움직이는 습관·수면·필요할 때 전문가 상담, 단정하지 않고 출처가 있음)만 다루고 구체 수치는 제시하지 않습니다. 활동지에 “친구가 이런 광고에 솔깃해할 때 해 줄 말”을 한 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5 (4분). 활동지 3쪽 활동 4. 위 문구는 예시이며 학생 의견이 우선입니다. 새 문항을 늘리지 않고 기존 5문을 구체화합니다.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1 (7분). 개인 활동. 교사 참고(정답 하나가 아님): 번역 예 – “확 빠지는” → 몇 명에게 어떤 조건에서인지 말하지 않음 / “의사도 추천” → 어떤 의사인지, 무엇을 근거로 했는지 알 수 없음 / “오늘 주문하면 1+1” → 생각할 시간을 주지 않음. 판단은 ‘추가 확인 필요’ 또는 ‘위험·행동 보류’ 모두 근거가 타당하면 인정. 확인 방법 – 성분·만든 곳을 다른 곳에서 확인, 사기 전에 보호자·약사·의사·보건 선생님과 상의. 광고 속 문구는 모두 가상이며 실제 구매·연락은 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2 (3분). 활동지 4쪽 “‘확’, ‘일주일 만에’, ‘전문가가 인정’ 같은 말을 보면 나는 먼저 ____ 한다. 왜냐하면 ____ 이기 때문이다.”를 작성합니다. 다음 차시(가정+사서)는 후기·체험담·협찬을 다룹니다. 이 수업의 광고·문구는 모두 가상 사례임을 다시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FRAM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M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0732" y="246888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유해정보 리터러시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“일주일 만에 확!”은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말하지 않을까?</a:t>
            </a:r>
            <a:endParaRPr lang="en-US" sz="5200" dirty="0"/>
          </a:p>
        </p:txBody>
      </p:sp>
      <p:sp>
        <p:nvSpPr>
          <p:cNvPr id="4" name="정보 바"/>
          <p:cNvSpPr/>
          <p:nvPr/>
        </p:nvSpPr>
        <p:spPr>
          <a:xfrm>
            <a:off x="1828800" y="3268980"/>
            <a:ext cx="5486400" cy="530352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정보 바 구분선"/>
          <p:cNvSpPr/>
          <p:nvPr/>
        </p:nvSpPr>
        <p:spPr>
          <a:xfrm>
            <a:off x="4572000" y="3410712"/>
            <a:ext cx="0" cy="246888"/>
          </a:xfrm>
          <a:prstGeom prst="line">
            <a:avLst/>
          </a:prstGeom>
          <a:noFill/>
          <a:ln w="12700">
            <a:solidFill>
              <a:srgbClr val="7777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57400" y="32689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교과  </a:t>
            </a:r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가정 + 보건 (협력)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32689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차시  </a:t>
            </a:r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10 · 45분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Lesson 06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오색렌즈 교사연구회</a:t>
            </a:r>
            <a:endParaRPr lang="en-US" sz="12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 시간까지의 수사 도구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Review</a:t>
            </a:r>
            <a:endParaRPr lang="en-US" sz="2800" dirty="0"/>
          </a:p>
        </p:txBody>
      </p:sp>
      <p:sp>
        <p:nvSpPr>
          <p:cNvPr id="4" name="체크 카드 1"/>
          <p:cNvSpPr/>
          <p:nvPr/>
        </p:nvSpPr>
        <p:spPr>
          <a:xfrm>
            <a:off x="475488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만들었나?</a:t>
            </a:r>
            <a:endParaRPr lang="en-US" sz="1500" dirty="0"/>
          </a:p>
        </p:txBody>
      </p:sp>
      <p:sp>
        <p:nvSpPr>
          <p:cNvPr id="8" name="강조 카드 2"/>
          <p:cNvSpPr/>
          <p:nvPr/>
        </p:nvSpPr>
        <p:spPr>
          <a:xfrm>
            <a:off x="2130552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DEBE1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95144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295144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295144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근거가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있나?</a:t>
            </a:r>
            <a:endParaRPr lang="en-US" sz="1500" dirty="0"/>
          </a:p>
        </p:txBody>
      </p:sp>
      <p:sp>
        <p:nvSpPr>
          <p:cNvPr id="12" name="체크 카드 3"/>
          <p:cNvSpPr/>
          <p:nvPr/>
        </p:nvSpPr>
        <p:spPr>
          <a:xfrm>
            <a:off x="3785616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50208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950208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950208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원하나?</a:t>
            </a:r>
            <a:endParaRPr lang="en-US" sz="1500" dirty="0"/>
          </a:p>
        </p:txBody>
      </p:sp>
      <p:sp>
        <p:nvSpPr>
          <p:cNvPr id="16" name="강조 카드 4"/>
          <p:cNvSpPr/>
          <p:nvPr/>
        </p:nvSpPr>
        <p:spPr>
          <a:xfrm>
            <a:off x="5440680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DEBE1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05272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5605272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05272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말하고 있나?</a:t>
            </a:r>
            <a:endParaRPr lang="en-US" sz="1500" dirty="0"/>
          </a:p>
        </p:txBody>
      </p:sp>
      <p:sp>
        <p:nvSpPr>
          <p:cNvPr id="20" name="강조 카드 5"/>
          <p:cNvSpPr/>
          <p:nvPr/>
        </p:nvSpPr>
        <p:spPr>
          <a:xfrm>
            <a:off x="7095744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DEBE1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0336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7260336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재확인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260336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곳에서도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확인되나?</a:t>
            </a:r>
            <a:endParaRPr lang="en-US" sz="1500" dirty="0"/>
          </a:p>
        </p:txBody>
      </p:sp>
      <p:sp>
        <p:nvSpPr>
          <p:cNvPr id="24" name="배너"/>
          <p:cNvSpPr/>
          <p:nvPr/>
        </p:nvSpPr>
        <p:spPr>
          <a:xfrm>
            <a:off x="475488" y="3794760"/>
            <a:ext cx="8193024" cy="640080"/>
          </a:xfrm>
          <a:prstGeom prst="roundRect">
            <a:avLst>
              <a:gd name="adj" fmla="val 14286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" y="3794760"/>
            <a:ext cx="8193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떴다 ≠ 믿을 만하다 · 오늘은 ② 근거 ④ 표현 ⑤ 재확인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3초 문구 판정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Warm-up</a:t>
            </a:r>
            <a:endParaRPr lang="en-US" sz="2800" dirty="0"/>
          </a:p>
        </p:txBody>
      </p:sp>
      <p:sp>
        <p:nvSpPr>
          <p:cNvPr id="4" name="문구 카드 A"/>
          <p:cNvSpPr/>
          <p:nvPr/>
        </p:nvSpPr>
        <p:spPr>
          <a:xfrm>
            <a:off x="475488" y="123444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문구 라벨 A"/>
          <p:cNvSpPr/>
          <p:nvPr/>
        </p:nvSpPr>
        <p:spPr>
          <a:xfrm>
            <a:off x="749808" y="141732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4173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문구 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874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“일주일 만에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 빠져요!”</a:t>
            </a:r>
            <a:endParaRPr lang="en-US" sz="1600" dirty="0"/>
          </a:p>
        </p:txBody>
      </p:sp>
      <p:sp>
        <p:nvSpPr>
          <p:cNvPr id="8" name="문구 카드 B"/>
          <p:cNvSpPr/>
          <p:nvPr/>
        </p:nvSpPr>
        <p:spPr>
          <a:xfrm>
            <a:off x="3264408" y="123444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문구 라벨 B"/>
          <p:cNvSpPr/>
          <p:nvPr/>
        </p:nvSpPr>
        <p:spPr>
          <a:xfrm>
            <a:off x="3538728" y="141732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8728" y="14173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문구 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1874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“전문가가 인정한 성분!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부작용 걱정 없어요.”</a:t>
            </a:r>
            <a:endParaRPr lang="en-US" sz="1600" dirty="0"/>
          </a:p>
        </p:txBody>
      </p:sp>
      <p:sp>
        <p:nvSpPr>
          <p:cNvPr id="12" name="문구 카드 C"/>
          <p:cNvSpPr/>
          <p:nvPr/>
        </p:nvSpPr>
        <p:spPr>
          <a:xfrm>
            <a:off x="6053328" y="123444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3" name="문구 라벨 C"/>
          <p:cNvSpPr/>
          <p:nvPr/>
        </p:nvSpPr>
        <p:spPr>
          <a:xfrm>
            <a:off x="6327648" y="141732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27648" y="14173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문구 C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1874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“규칙적인 식사와 몸을 움직이는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습관이 건강한 몸 관리의 기본”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(공공기관 건강 안내, 가상)</a:t>
            </a:r>
            <a:endParaRPr lang="en-US" sz="1200" dirty="0"/>
          </a:p>
        </p:txBody>
      </p:sp>
      <p:sp>
        <p:nvSpPr>
          <p:cNvPr id="16" name="발문 카드"/>
          <p:cNvSpPr/>
          <p:nvPr/>
        </p:nvSpPr>
        <p:spPr>
          <a:xfrm>
            <a:off x="475488" y="3291840"/>
            <a:ext cx="8193024" cy="1143000"/>
          </a:xfrm>
          <a:prstGeom prst="roundRect">
            <a:avLst>
              <a:gd name="adj" fmla="val 9600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7" name="발문 라벨"/>
          <p:cNvSpPr/>
          <p:nvPr/>
        </p:nvSpPr>
        <p:spPr>
          <a:xfrm>
            <a:off x="731520" y="3456432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4564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끌리는 정도와 믿을 만한 정도를 따로 표시해요.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끌리는 문구와 믿을 만한 문구는 같았나요?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Learning Question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광고의 과장 표현은 무엇을 숨기고,</a:t>
            </a:r>
            <a:endParaRPr lang="en-US" sz="2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몸에 대한 메시지는 내 선택에 어떤 영향을 줄까?</a:t>
            </a:r>
            <a:endParaRPr lang="en-US" sz="2600" dirty="0"/>
          </a:p>
        </p:txBody>
      </p:sp>
      <p:sp>
        <p:nvSpPr>
          <p:cNvPr id="4" name="목표 카드 1"/>
          <p:cNvSpPr/>
          <p:nvPr/>
        </p:nvSpPr>
        <p:spPr>
          <a:xfrm>
            <a:off x="237744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번역하기</a:t>
            </a:r>
            <a:endParaRPr lang="en-US" sz="2200" dirty="0"/>
          </a:p>
        </p:txBody>
      </p:sp>
      <p:sp>
        <p:nvSpPr>
          <p:cNvPr id="6" name="카드 구분선 1"/>
          <p:cNvSpPr/>
          <p:nvPr/>
        </p:nvSpPr>
        <p:spPr>
          <a:xfrm>
            <a:off x="512064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7" name="체크 1"/>
          <p:cNvSpPr/>
          <p:nvPr/>
        </p:nvSpPr>
        <p:spPr>
          <a:xfrm>
            <a:off x="512064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8" name="체크 1 획1"/>
          <p:cNvSpPr/>
          <p:nvPr/>
        </p:nvSpPr>
        <p:spPr>
          <a:xfrm>
            <a:off x="600944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9" name="체크 1 획2"/>
          <p:cNvSpPr/>
          <p:nvPr/>
        </p:nvSpPr>
        <p:spPr>
          <a:xfrm flipV="1">
            <a:off x="660197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9264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과장 표현을 정확한 말로 바꿔요.</a:t>
            </a:r>
            <a:endParaRPr lang="en-US" sz="1400" dirty="0"/>
          </a:p>
        </p:txBody>
      </p:sp>
      <p:sp>
        <p:nvSpPr>
          <p:cNvPr id="11" name="목표 번호 1"/>
          <p:cNvSpPr/>
          <p:nvPr/>
        </p:nvSpPr>
        <p:spPr>
          <a:xfrm>
            <a:off x="512064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01</a:t>
            </a:r>
            <a:endParaRPr lang="en-US" sz="1200" dirty="0"/>
          </a:p>
        </p:txBody>
      </p:sp>
      <p:sp>
        <p:nvSpPr>
          <p:cNvPr id="13" name="목표 카드 2"/>
          <p:cNvSpPr/>
          <p:nvPr/>
        </p:nvSpPr>
        <p:spPr>
          <a:xfrm>
            <a:off x="3154680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54680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이해하기</a:t>
            </a:r>
            <a:endParaRPr lang="en-US" sz="2200" dirty="0"/>
          </a:p>
        </p:txBody>
      </p:sp>
      <p:sp>
        <p:nvSpPr>
          <p:cNvPr id="15" name="카드 구분선 2"/>
          <p:cNvSpPr/>
          <p:nvPr/>
        </p:nvSpPr>
        <p:spPr>
          <a:xfrm>
            <a:off x="3429000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6" name="체크 2"/>
          <p:cNvSpPr/>
          <p:nvPr/>
        </p:nvSpPr>
        <p:spPr>
          <a:xfrm>
            <a:off x="3429000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7" name="체크 2 획1"/>
          <p:cNvSpPr/>
          <p:nvPr/>
        </p:nvSpPr>
        <p:spPr>
          <a:xfrm>
            <a:off x="3517880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8" name="체크 2 획2"/>
          <p:cNvSpPr/>
          <p:nvPr/>
        </p:nvSpPr>
        <p:spPr>
          <a:xfrm flipV="1">
            <a:off x="3577133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86200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몸에 대한 광고 메시지의 영향을 말해요.</a:t>
            </a:r>
            <a:endParaRPr lang="en-US" sz="1400" dirty="0"/>
          </a:p>
        </p:txBody>
      </p:sp>
      <p:sp>
        <p:nvSpPr>
          <p:cNvPr id="20" name="목표 번호 2"/>
          <p:cNvSpPr/>
          <p:nvPr/>
        </p:nvSpPr>
        <p:spPr>
          <a:xfrm>
            <a:off x="3429000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02</a:t>
            </a:r>
            <a:endParaRPr lang="en-US" sz="1200" dirty="0"/>
          </a:p>
        </p:txBody>
      </p:sp>
      <p:sp>
        <p:nvSpPr>
          <p:cNvPr id="22" name="목표 카드 3"/>
          <p:cNvSpPr/>
          <p:nvPr/>
        </p:nvSpPr>
        <p:spPr>
          <a:xfrm>
            <a:off x="6071616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71616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확인하기</a:t>
            </a:r>
            <a:endParaRPr lang="en-US" sz="2200" dirty="0"/>
          </a:p>
        </p:txBody>
      </p:sp>
      <p:sp>
        <p:nvSpPr>
          <p:cNvPr id="24" name="카드 구분선 3"/>
          <p:cNvSpPr/>
          <p:nvPr/>
        </p:nvSpPr>
        <p:spPr>
          <a:xfrm>
            <a:off x="6345936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5" name="체크 3"/>
          <p:cNvSpPr/>
          <p:nvPr/>
        </p:nvSpPr>
        <p:spPr>
          <a:xfrm>
            <a:off x="6345936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6" name="체크 3 획1"/>
          <p:cNvSpPr/>
          <p:nvPr/>
        </p:nvSpPr>
        <p:spPr>
          <a:xfrm>
            <a:off x="6434816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7" name="체크 3 획2"/>
          <p:cNvSpPr/>
          <p:nvPr/>
        </p:nvSpPr>
        <p:spPr>
          <a:xfrm flipV="1">
            <a:off x="6494069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03136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안전하게 확인하고 상의할 사람을 정해요.</a:t>
            </a:r>
            <a:endParaRPr lang="en-US" sz="1400" dirty="0"/>
          </a:p>
        </p:txBody>
      </p:sp>
      <p:sp>
        <p:nvSpPr>
          <p:cNvPr id="29" name="목표 번호 3"/>
          <p:cNvSpPr/>
          <p:nvPr/>
        </p:nvSpPr>
        <p:spPr>
          <a:xfrm>
            <a:off x="6345936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45936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과장 표현 5유형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Five Types</a:t>
            </a:r>
            <a:endParaRPr lang="en-US" sz="2800" dirty="0"/>
          </a:p>
        </p:txBody>
      </p:sp>
      <p:sp>
        <p:nvSpPr>
          <p:cNvPr id="4" name="유형 카드 1"/>
          <p:cNvSpPr/>
          <p:nvPr/>
        </p:nvSpPr>
        <p:spPr>
          <a:xfrm>
            <a:off x="475488" y="1234440"/>
            <a:ext cx="1572768" cy="25146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1325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㉠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783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단정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1945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“확”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“걱정 없어요”</a:t>
            </a:r>
            <a:endParaRPr lang="en-US" sz="1200" dirty="0"/>
          </a:p>
        </p:txBody>
      </p:sp>
      <p:sp>
        <p:nvSpPr>
          <p:cNvPr id="8" name="숨기는 것 1"/>
          <p:cNvSpPr/>
          <p:nvPr/>
        </p:nvSpPr>
        <p:spPr>
          <a:xfrm>
            <a:off x="566928" y="3017520"/>
            <a:ext cx="1389888" cy="594360"/>
          </a:xfrm>
          <a:prstGeom prst="roundRect">
            <a:avLst>
              <a:gd name="adj" fmla="val 12308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01752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조건과 사람마다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점</a:t>
            </a:r>
            <a:endParaRPr lang="en-US" sz="1000" dirty="0"/>
          </a:p>
        </p:txBody>
      </p:sp>
      <p:sp>
        <p:nvSpPr>
          <p:cNvPr id="10" name="유형 카드 2"/>
          <p:cNvSpPr/>
          <p:nvPr/>
        </p:nvSpPr>
        <p:spPr>
          <a:xfrm>
            <a:off x="2130552" y="1234440"/>
            <a:ext cx="1572768" cy="25146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67712" y="1325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㉡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267712" y="1783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속도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67712" y="21945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“일주일 만에”</a:t>
            </a:r>
            <a:endParaRPr lang="en-US" sz="1200" dirty="0"/>
          </a:p>
        </p:txBody>
      </p:sp>
      <p:sp>
        <p:nvSpPr>
          <p:cNvPr id="14" name="숨기는 것 2"/>
          <p:cNvSpPr/>
          <p:nvPr/>
        </p:nvSpPr>
        <p:spPr>
          <a:xfrm>
            <a:off x="2221992" y="3017520"/>
            <a:ext cx="1389888" cy="594360"/>
          </a:xfrm>
          <a:prstGeom prst="roundRect">
            <a:avLst>
              <a:gd name="adj" fmla="val 12308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21992" y="301752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몇 명에게,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조건에서</a:t>
            </a:r>
            <a:endParaRPr lang="en-US" sz="1000" dirty="0"/>
          </a:p>
        </p:txBody>
      </p:sp>
      <p:sp>
        <p:nvSpPr>
          <p:cNvPr id="16" name="유형 카드 3"/>
          <p:cNvSpPr/>
          <p:nvPr/>
        </p:nvSpPr>
        <p:spPr>
          <a:xfrm>
            <a:off x="3785616" y="1234440"/>
            <a:ext cx="1572768" cy="25146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22776" y="1325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㉢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922776" y="1783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전후·체험담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22776" y="21945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“나는 달라졌어요”</a:t>
            </a:r>
            <a:endParaRPr lang="en-US" sz="1200" dirty="0"/>
          </a:p>
        </p:txBody>
      </p:sp>
      <p:sp>
        <p:nvSpPr>
          <p:cNvPr id="20" name="숨기는 것 3"/>
          <p:cNvSpPr/>
          <p:nvPr/>
        </p:nvSpPr>
        <p:spPr>
          <a:xfrm>
            <a:off x="3877056" y="3017520"/>
            <a:ext cx="1389888" cy="594360"/>
          </a:xfrm>
          <a:prstGeom prst="roundRect">
            <a:avLst>
              <a:gd name="adj" fmla="val 12308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77056" y="301752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사람의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경험일 뿐</a:t>
            </a:r>
            <a:endParaRPr lang="en-US" sz="1000" dirty="0"/>
          </a:p>
        </p:txBody>
      </p:sp>
      <p:sp>
        <p:nvSpPr>
          <p:cNvPr id="22" name="유형 카드 4"/>
          <p:cNvSpPr/>
          <p:nvPr/>
        </p:nvSpPr>
        <p:spPr>
          <a:xfrm>
            <a:off x="5440680" y="1234440"/>
            <a:ext cx="1572768" cy="25146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77840" y="1325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㉣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5577840" y="1783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권위 빌리기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21945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“전문가가 인정”</a:t>
            </a:r>
            <a:endParaRPr lang="en-US" sz="1200" dirty="0"/>
          </a:p>
        </p:txBody>
      </p:sp>
      <p:sp>
        <p:nvSpPr>
          <p:cNvPr id="26" name="숨기는 것 4"/>
          <p:cNvSpPr/>
          <p:nvPr/>
        </p:nvSpPr>
        <p:spPr>
          <a:xfrm>
            <a:off x="5532120" y="3017520"/>
            <a:ext cx="1389888" cy="594360"/>
          </a:xfrm>
          <a:prstGeom prst="roundRect">
            <a:avLst>
              <a:gd name="adj" fmla="val 12308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32120" y="301752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누가, 무엇을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근거로?</a:t>
            </a:r>
            <a:endParaRPr lang="en-US" sz="1000" dirty="0"/>
          </a:p>
        </p:txBody>
      </p:sp>
      <p:sp>
        <p:nvSpPr>
          <p:cNvPr id="28" name="유형 카드 5"/>
          <p:cNvSpPr/>
          <p:nvPr/>
        </p:nvSpPr>
        <p:spPr>
          <a:xfrm>
            <a:off x="7095744" y="1234440"/>
            <a:ext cx="1572768" cy="25146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32904" y="1325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㉤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7232904" y="1783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재촉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232904" y="21945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“오늘만”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“마감 임박”</a:t>
            </a:r>
            <a:endParaRPr lang="en-US" sz="1200" dirty="0"/>
          </a:p>
        </p:txBody>
      </p:sp>
      <p:sp>
        <p:nvSpPr>
          <p:cNvPr id="32" name="숨기는 것 5"/>
          <p:cNvSpPr/>
          <p:nvPr/>
        </p:nvSpPr>
        <p:spPr>
          <a:xfrm>
            <a:off x="7187184" y="3017520"/>
            <a:ext cx="1389888" cy="594360"/>
          </a:xfrm>
          <a:prstGeom prst="roundRect">
            <a:avLst>
              <a:gd name="adj" fmla="val 12308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87184" y="301752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생각할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</a:t>
            </a:r>
            <a:endParaRPr lang="en-US" sz="1000" dirty="0"/>
          </a:p>
        </p:txBody>
      </p:sp>
      <p:sp>
        <p:nvSpPr>
          <p:cNvPr id="34" name="배너"/>
          <p:cNvSpPr/>
          <p:nvPr/>
        </p:nvSpPr>
        <p:spPr>
          <a:xfrm>
            <a:off x="475488" y="3931920"/>
            <a:ext cx="8193024" cy="502920"/>
          </a:xfrm>
          <a:prstGeom prst="roundRect">
            <a:avLst>
              <a:gd name="adj" fmla="val 18182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5488" y="3931920"/>
            <a:ext cx="8193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광고에 여러 유형이 함께 쓰일 수 있어요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번역기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Group Mission</a:t>
            </a:r>
            <a:endParaRPr lang="en-US" sz="2800" dirty="0"/>
          </a:p>
        </p:txBody>
      </p:sp>
      <p:sp>
        <p:nvSpPr>
          <p:cNvPr id="4" name="세트 카드 1"/>
          <p:cNvSpPr/>
          <p:nvPr/>
        </p:nvSpPr>
        <p:spPr>
          <a:xfrm>
            <a:off x="475488" y="12344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7830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광고 카드</a:t>
            </a:r>
            <a:endParaRPr lang="en-US" sz="1600" dirty="0"/>
          </a:p>
        </p:txBody>
      </p:sp>
      <p:sp>
        <p:nvSpPr>
          <p:cNvPr id="7" name="세트 카드 2"/>
          <p:cNvSpPr/>
          <p:nvPr/>
        </p:nvSpPr>
        <p:spPr>
          <a:xfrm>
            <a:off x="2807208" y="12344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35808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035808" y="17830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광고 카드</a:t>
            </a:r>
            <a:endParaRPr lang="en-US" sz="1600" dirty="0"/>
          </a:p>
        </p:txBody>
      </p:sp>
      <p:sp>
        <p:nvSpPr>
          <p:cNvPr id="10" name="세트 카드 3"/>
          <p:cNvSpPr/>
          <p:nvPr/>
        </p:nvSpPr>
        <p:spPr>
          <a:xfrm>
            <a:off x="475488" y="28346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33832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광고 카드</a:t>
            </a:r>
            <a:endParaRPr lang="en-US" sz="1600" dirty="0"/>
          </a:p>
        </p:txBody>
      </p:sp>
      <p:sp>
        <p:nvSpPr>
          <p:cNvPr id="13" name="세트 카드 4"/>
          <p:cNvSpPr/>
          <p:nvPr/>
        </p:nvSpPr>
        <p:spPr>
          <a:xfrm>
            <a:off x="2807208" y="28346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35808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세트 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035808" y="33832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광고 카드</a:t>
            </a:r>
            <a:endParaRPr lang="en-US" sz="1600" dirty="0"/>
          </a:p>
        </p:txBody>
      </p:sp>
      <p:sp>
        <p:nvSpPr>
          <p:cNvPr id="16" name="미션 방법 카드"/>
          <p:cNvSpPr/>
          <p:nvPr/>
        </p:nvSpPr>
        <p:spPr>
          <a:xfrm>
            <a:off x="5212080" y="1234440"/>
            <a:ext cx="3456432" cy="3063240"/>
          </a:xfrm>
          <a:prstGeom prst="roundRect">
            <a:avLst>
              <a:gd name="adj" fmla="val 3582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7" name="미션 라벨"/>
          <p:cNvSpPr/>
          <p:nvPr/>
        </p:nvSpPr>
        <p:spPr>
          <a:xfrm>
            <a:off x="5468112" y="1417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68112" y="14173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68112" y="19202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과장 표현에 밑줄 긋고 유형(㉠~㉤)을 표시해요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정확한 말로 번역해요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정보 칸에서 빠진 정보를 찾아요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68112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9분 · 모둠 활동지(활동 2)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번역해요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Translate</a:t>
            </a:r>
            <a:endParaRPr lang="en-US" sz="2800" dirty="0"/>
          </a:p>
        </p:txBody>
      </p:sp>
      <p:sp>
        <p:nvSpPr>
          <p:cNvPr id="4" name="번역 행 1"/>
          <p:cNvSpPr/>
          <p:nvPr/>
        </p:nvSpPr>
        <p:spPr>
          <a:xfrm>
            <a:off x="475488" y="1188720"/>
            <a:ext cx="8193024" cy="749808"/>
          </a:xfrm>
          <a:prstGeom prst="roundRect">
            <a:avLst>
              <a:gd name="adj" fmla="val 1219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“일주일 만에 확 빠져요”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1188720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18872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몇 명에게, 어떤 조건에서 나온 결과인지 말하지 않았어요</a:t>
            </a:r>
            <a:endParaRPr lang="en-US" sz="1400" dirty="0"/>
          </a:p>
        </p:txBody>
      </p:sp>
      <p:sp>
        <p:nvSpPr>
          <p:cNvPr id="8" name="번역 행 2"/>
          <p:cNvSpPr/>
          <p:nvPr/>
        </p:nvSpPr>
        <p:spPr>
          <a:xfrm>
            <a:off x="475488" y="2057400"/>
            <a:ext cx="8193024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05740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“전문가가 인정”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057400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05740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전문가가, 무엇을 근거로 했는지 알 수 없어요</a:t>
            </a:r>
            <a:endParaRPr lang="en-US" sz="1400" dirty="0"/>
          </a:p>
        </p:txBody>
      </p:sp>
      <p:sp>
        <p:nvSpPr>
          <p:cNvPr id="12" name="번역 행 3"/>
          <p:cNvSpPr/>
          <p:nvPr/>
        </p:nvSpPr>
        <p:spPr>
          <a:xfrm>
            <a:off x="475488" y="2926080"/>
            <a:ext cx="8193024" cy="749808"/>
          </a:xfrm>
          <a:prstGeom prst="roundRect">
            <a:avLst>
              <a:gd name="adj" fmla="val 1219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92608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“오늘만 1+1”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926080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292608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생각할 시간을 주지 않아요. 작은 글씨에 조건이 있을 수 있어요</a:t>
            </a:r>
            <a:endParaRPr lang="en-US" sz="1400" dirty="0"/>
          </a:p>
        </p:txBody>
      </p:sp>
      <p:sp>
        <p:nvSpPr>
          <p:cNvPr id="16" name="공유 카드"/>
          <p:cNvSpPr/>
          <p:nvPr/>
        </p:nvSpPr>
        <p:spPr>
          <a:xfrm>
            <a:off x="475488" y="3840480"/>
            <a:ext cx="8193024" cy="594360"/>
          </a:xfrm>
          <a:prstGeom prst="roundRect">
            <a:avLst>
              <a:gd name="adj" fmla="val 18462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777240" y="38404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모둠별로 가장 중요한 번역을 한 문장으로 발표해요 (4분)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광고가 파는 것은 무엇일까?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What Is Sold</a:t>
            </a:r>
            <a:endParaRPr lang="en-US" sz="2800" dirty="0"/>
          </a:p>
        </p:txBody>
      </p:sp>
      <p:sp>
        <p:nvSpPr>
          <p:cNvPr id="4" name="제품 카드"/>
          <p:cNvSpPr/>
          <p:nvPr/>
        </p:nvSpPr>
        <p:spPr>
          <a:xfrm>
            <a:off x="475488" y="1234440"/>
            <a:ext cx="3931920" cy="2194560"/>
          </a:xfrm>
          <a:prstGeom prst="roundRect">
            <a:avLst>
              <a:gd name="adj" fmla="val 5833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제품 라벨"/>
          <p:cNvSpPr/>
          <p:nvPr/>
        </p:nvSpPr>
        <p:spPr>
          <a:xfrm>
            <a:off x="731520" y="141732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눈에 보이는 것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</a:t>
            </a:r>
            <a:endParaRPr lang="en-US" sz="3200" dirty="0"/>
          </a:p>
        </p:txBody>
      </p:sp>
      <p:sp>
        <p:nvSpPr>
          <p:cNvPr id="8" name="메시지 카드"/>
          <p:cNvSpPr/>
          <p:nvPr/>
        </p:nvSpPr>
        <p:spPr>
          <a:xfrm>
            <a:off x="4736592" y="1234440"/>
            <a:ext cx="393192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22225">
            <a:solidFill>
              <a:srgbClr val="FF6B35"/>
            </a:solidFill>
            <a:prstDash val="solid"/>
          </a:ln>
        </p:spPr>
      </p:sp>
      <p:sp>
        <p:nvSpPr>
          <p:cNvPr id="9" name="메시지 라벨"/>
          <p:cNvSpPr/>
          <p:nvPr/>
        </p:nvSpPr>
        <p:spPr>
          <a:xfrm>
            <a:off x="4992624" y="141732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92624" y="1417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전해지는 것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92624" y="19202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“이래야 좋은 몸”이라는 생각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안 하면 뒤처진다는 불안</a:t>
            </a:r>
            <a:endParaRPr lang="en-US" sz="1500" dirty="0"/>
          </a:p>
        </p:txBody>
      </p:sp>
      <p:sp>
        <p:nvSpPr>
          <p:cNvPr id="12" name="결론 배너"/>
          <p:cNvSpPr/>
          <p:nvPr/>
        </p:nvSpPr>
        <p:spPr>
          <a:xfrm>
            <a:off x="475488" y="3657600"/>
            <a:ext cx="8193024" cy="777240"/>
          </a:xfrm>
          <a:prstGeom prst="roundRect">
            <a:avLst>
              <a:gd name="adj" fmla="val 11765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" y="3657600"/>
            <a:ext cx="8193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몸과 마음을 지키는 선택은 광고가 아니라 내가 해요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건강한 정보는 이런 모습이에요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Healthy Info</a:t>
            </a:r>
            <a:endParaRPr lang="en-US" sz="2800" dirty="0"/>
          </a:p>
        </p:txBody>
      </p:sp>
      <p:sp>
        <p:nvSpPr>
          <p:cNvPr id="4" name="광고 카드"/>
          <p:cNvSpPr/>
          <p:nvPr/>
        </p:nvSpPr>
        <p:spPr>
          <a:xfrm>
            <a:off x="475488" y="1188720"/>
            <a:ext cx="3931920" cy="2423160"/>
          </a:xfrm>
          <a:prstGeom prst="roundRect">
            <a:avLst>
              <a:gd name="adj" fmla="val 5283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광고 라벨"/>
          <p:cNvSpPr/>
          <p:nvPr/>
        </p:nvSpPr>
        <p:spPr>
          <a:xfrm>
            <a:off x="731520" y="137160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문구 (가상)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“먹기만 하면 누구나 확 달라져요!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오늘만 특별 가격!”</a:t>
            </a:r>
            <a:endParaRPr lang="en-US" sz="1700" dirty="0"/>
          </a:p>
        </p:txBody>
      </p:sp>
      <p:sp>
        <p:nvSpPr>
          <p:cNvPr id="8" name="안내 카드"/>
          <p:cNvSpPr/>
          <p:nvPr/>
        </p:nvSpPr>
        <p:spPr>
          <a:xfrm>
            <a:off x="4736592" y="1188720"/>
            <a:ext cx="3931920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22225">
            <a:solidFill>
              <a:srgbClr val="FF6B35"/>
            </a:solidFill>
            <a:prstDash val="solid"/>
          </a:ln>
        </p:spPr>
      </p:sp>
      <p:sp>
        <p:nvSpPr>
          <p:cNvPr id="9" name="안내 라벨"/>
          <p:cNvSpPr/>
          <p:nvPr/>
        </p:nvSpPr>
        <p:spPr>
          <a:xfrm>
            <a:off x="4992624" y="137160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92624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건강 안내 문구 (가상)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92624" y="18288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“규칙적인 식사와 몸을 움직이는 습관, 충분한 잠이 건강한 몸 관리의 기본이에요. 먹는 제품은 사기 전에 보호자·약사·의사와 먼저 상의해요.”</a:t>
            </a:r>
            <a:endParaRPr lang="en-US" sz="1300" dirty="0"/>
          </a:p>
        </p:txBody>
      </p:sp>
      <p:sp>
        <p:nvSpPr>
          <p:cNvPr id="12" name="정리 카드"/>
          <p:cNvSpPr/>
          <p:nvPr/>
        </p:nvSpPr>
        <p:spPr>
          <a:xfrm>
            <a:off x="475488" y="3794760"/>
            <a:ext cx="8193024" cy="640080"/>
          </a:xfrm>
          <a:prstGeom prst="roundRect">
            <a:avLst>
              <a:gd name="adj" fmla="val 17143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777240" y="37947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단정하지 않아요 · 출처가 있어요 · 필요하면 전문가와 상의하라고 해요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반 체크리스트 보완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Our Checklist</a:t>
            </a:r>
            <a:endParaRPr lang="en-US" sz="2800" dirty="0"/>
          </a:p>
        </p:txBody>
      </p:sp>
      <p:sp>
        <p:nvSpPr>
          <p:cNvPr id="4" name="보완 문항 카드"/>
          <p:cNvSpPr/>
          <p:nvPr/>
        </p:nvSpPr>
        <p:spPr>
          <a:xfrm>
            <a:off x="475488" y="1234440"/>
            <a:ext cx="3840480" cy="32004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덧붙일 문항</a:t>
            </a:r>
            <a:endParaRPr lang="en-US" sz="2000" dirty="0"/>
          </a:p>
        </p:txBody>
      </p:sp>
      <p:sp>
        <p:nvSpPr>
          <p:cNvPr id="6" name="카드 구분선 1"/>
          <p:cNvSpPr/>
          <p:nvPr/>
        </p:nvSpPr>
        <p:spPr>
          <a:xfrm>
            <a:off x="777240" y="1920240"/>
            <a:ext cx="3246120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03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03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근거가 있나?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5292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8529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말하고 있나?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60273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60273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재확인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곳에서도 확인되나?</a:t>
            </a:r>
            <a:endParaRPr lang="en-US" sz="1200" dirty="0"/>
          </a:p>
        </p:txBody>
      </p:sp>
      <p:sp>
        <p:nvSpPr>
          <p:cNvPr id="13" name="화살표"/>
          <p:cNvSpPr/>
          <p:nvPr/>
        </p:nvSpPr>
        <p:spPr>
          <a:xfrm>
            <a:off x="4462272" y="2514600"/>
            <a:ext cx="274320" cy="548640"/>
          </a:xfrm>
          <a:prstGeom prst="chevron">
            <a:avLst/>
          </a:prstGeom>
          <a:solidFill>
            <a:srgbClr val="FF9E7A"/>
          </a:solidFill>
          <a:ln w="12700">
            <a:solidFill>
              <a:srgbClr val="FF9E7A"/>
            </a:solidFill>
            <a:prstDash val="solid"/>
          </a:ln>
        </p:spPr>
      </p:sp>
      <p:sp>
        <p:nvSpPr>
          <p:cNvPr id="14" name="문구 예시 카드"/>
          <p:cNvSpPr/>
          <p:nvPr/>
        </p:nvSpPr>
        <p:spPr>
          <a:xfrm>
            <a:off x="4892040" y="1234440"/>
            <a:ext cx="3776472" cy="3200400"/>
          </a:xfrm>
          <a:prstGeom prst="roundRect">
            <a:avLst>
              <a:gd name="adj" fmla="val 3429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521208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반 문구 예시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1417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</a:t>
            </a:r>
            <a:endParaRPr lang="en-US" sz="1200" dirty="0"/>
          </a:p>
        </p:txBody>
      </p:sp>
      <p:sp>
        <p:nvSpPr>
          <p:cNvPr id="17" name="카드 구분선 2"/>
          <p:cNvSpPr/>
          <p:nvPr/>
        </p:nvSpPr>
        <p:spPr>
          <a:xfrm>
            <a:off x="5212080" y="1920240"/>
            <a:ext cx="3136392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210312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빠진 정보(성분·만든 곳·확인 기관)는 없나?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확·일주일 만에·전문가 같은 말이 있나?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먹는 제품은 사기 전에 어른·약사·보건 선생님과 상의했나?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3931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문항을 늘리지 않고 구체화해요.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광고, 혼자 판단해요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Check-up</a:t>
            </a:r>
            <a:endParaRPr lang="en-US" sz="2800" dirty="0"/>
          </a:p>
        </p:txBody>
      </p:sp>
      <p:sp>
        <p:nvSpPr>
          <p:cNvPr id="4" name="아 카드"/>
          <p:cNvSpPr/>
          <p:nvPr/>
        </p:nvSpPr>
        <p:spPr>
          <a:xfrm>
            <a:off x="475488" y="1234440"/>
            <a:ext cx="4114800" cy="3154680"/>
          </a:xfrm>
          <a:prstGeom prst="roundRect">
            <a:avLst>
              <a:gd name="adj" fmla="val 405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아 라벨"/>
          <p:cNvSpPr/>
          <p:nvPr/>
        </p:nvSpPr>
        <p:spPr>
          <a:xfrm>
            <a:off x="777240" y="146304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 · 수업용 가상 광고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“먹기만 해도 확 빠지는 ○○ 스틱! 나도 놀랐어요. 의사도 추천해요. 오늘 주문하면 1+1!”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576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[제품 정보] 어떤 의사인지 · 성분: 적혀 있지 않음</a:t>
            </a:r>
            <a:endParaRPr lang="en-US" sz="1200" dirty="0"/>
          </a:p>
        </p:txBody>
      </p:sp>
      <p:sp>
        <p:nvSpPr>
          <p:cNvPr id="9" name="방법 카드"/>
          <p:cNvSpPr/>
          <p:nvPr/>
        </p:nvSpPr>
        <p:spPr>
          <a:xfrm>
            <a:off x="4846320" y="1234440"/>
            <a:ext cx="3822192" cy="3154680"/>
          </a:xfrm>
          <a:prstGeom prst="roundRect">
            <a:avLst>
              <a:gd name="adj" fmla="val 3478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0" name="방법 라벨"/>
          <p:cNvSpPr/>
          <p:nvPr/>
        </p:nvSpPr>
        <p:spPr>
          <a:xfrm>
            <a:off x="5120640" y="1417320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1417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TO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01168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과장 표현 2개를 정확한 말로 번역해요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판단을 하나 골라요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방법과 상의할 사람을 써요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3886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7분 · 개인 활동 · 활동지 4쪽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한 줄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80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‘확’, ‘일주일 만에’, ‘전문가가 인정’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말을 보면 나는 먼저?</a:t>
            </a:r>
            <a:endParaRPr lang="en-US" sz="4200" dirty="0"/>
          </a:p>
        </p:txBody>
      </p:sp>
      <p:sp>
        <p:nvSpPr>
          <p:cNvPr id="5" name="위 구분선"/>
          <p:cNvSpPr/>
          <p:nvPr/>
        </p:nvSpPr>
        <p:spPr>
          <a:xfrm>
            <a:off x="1828800" y="3337560"/>
            <a:ext cx="5486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3401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· 가정 + 사서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34015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후기 · 체험담 · 협찬</a:t>
            </a:r>
            <a:endParaRPr lang="en-US" sz="1400" dirty="0"/>
          </a:p>
        </p:txBody>
      </p:sp>
      <p:sp>
        <p:nvSpPr>
          <p:cNvPr id="8" name="아래 구분선"/>
          <p:cNvSpPr/>
          <p:nvPr/>
        </p:nvSpPr>
        <p:spPr>
          <a:xfrm>
            <a:off x="1828800" y="3904488"/>
            <a:ext cx="5486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4160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몸이나 먹는 것이 걱정되면 혼자 고민하지 말고 담임 · 보건 · 상담 선생님께 말해요.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오색렌즈 리포트">
  <a:themeElements>
    <a:clrScheme name="오색렌즈 리포트">
      <a:dk1>
        <a:srgbClr val="333333"/>
      </a:dk1>
      <a:lt1>
        <a:srgbClr val="FFFFFF"/>
      </a:lt1>
      <a:dk2>
        <a:srgbClr val="555555"/>
      </a:dk2>
      <a:lt2>
        <a:srgbClr val="F3F3F3"/>
      </a:lt2>
      <a:accent1>
        <a:srgbClr val="FF6B35"/>
      </a:accent1>
      <a:accent2>
        <a:srgbClr val="FF9E7A"/>
      </a:accent2>
      <a:accent3>
        <a:srgbClr val="FDEBE1"/>
      </a:accent3>
      <a:accent4>
        <a:srgbClr val="7FB0FF"/>
      </a:accent4>
      <a:accent5>
        <a:srgbClr val="777777"/>
      </a:accent5>
      <a:accent6>
        <a:srgbClr val="C9C9C9"/>
      </a:accent6>
      <a:hlink>
        <a:srgbClr val="FF6B35"/>
      </a:hlink>
      <a:folHlink>
        <a:srgbClr val="777777"/>
      </a:folHlink>
    </a:clrScheme>
    <a:fontScheme name="오색렌즈 리포트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유해정보 리터러시 6차시</dc:title>
  <dc:subject>PptxGenJS Presentation</dc:subject>
  <dc:creator>오색렌즈 교사연구회</dc:creator>
  <cp:lastModifiedBy>오색렌즈 교사연구회</cp:lastModifiedBy>
  <cp:revision>1</cp:revision>
  <dcterms:created xsi:type="dcterms:W3CDTF">2026-10-13T03:35:24Z</dcterms:created>
  <dcterms:modified xsi:type="dcterms:W3CDTF">2026-10-13T03:35:24Z</dcterms:modified>
</cp:coreProperties>
</file>