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5ab036dd-0dde-4ee7-8dc4-4d03705eaa54}">
          <p14:sldIdLst>
            <p14:sldId id="256"/>
          </p14:sldIdLst>
        </p14:section>
        <p14:section name="도입" id="{5b77f244-cbf4-bf93-c421-c21bc7fdc0ef}">
          <p14:sldIdLst>
            <p14:sldId id="257"/>
            <p14:sldId id="258"/>
            <p14:sldId id="259"/>
            <p14:sldId id="260"/>
          </p14:sldIdLst>
        </p14:section>
        <p14:section name="전개" id="{4bd44938-26d9-0805-88ec-deb33b0bfd02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정리" id="{a9001bcb-617f-b289-5388-301fe3e20dfc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 후 바로 3초 정보 판정으로 들어갑니다.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(5분 중 약 1분). 4개 정보는 다음 장에서 3초씩 보여 줍니다. 출처나 정답은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도입. 각 정보를 3초씩 보여 준 뒤 판정 시간을 줍니다. 교사 참고(발표 전에 알려 주지 않음): 가 위험(단정·몸의 해), 나 위험·공유 보류(출처 없음·재촉), 다 신뢰 가능(출처·작성일 표시, 추가 확인 권장), 라 추가 확인 필요(협찬 표시가 눈에 띄지 않음). 사례는 모두 재구성한 가상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(약 3분). 같은 정보를 두고 판단이 달라지는 이유를 발표하게 합니다. 정답을 말해 주지 않고 판단 차이를 드러내는 데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(2분). 학생 의견을 바탕으로 학습문제를 제시하고 학습목표를 확인합니다. 가짜정보 찾기보다 판단 기준 만들기에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1 (5분). 건강정보를 질병 정보로만 한정하지 않습니다. 이후 4~8차시(도박광고, 약물정보, 광고와 신체, 후기·협찬, 대응)와 연결됩니다. 약물·도박의 구체적 방법, 용량, 접속 방법은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2 (8분: 활동 5분 + 발표 3분). 모둠별로 서로 다른 사례 카드를 나눠 줍니다. 활동지 2쪽에 표시하고 이유를 씁니다. 도박·약물 사례는 수위를 사전에 점검하고 접속 방법은 제시하지 않습니다. 교사 참고: 카드 1 위험(단정·재촉), 카드 2 추가 확인 필요(광고 표시 없음·구매링크), 카드 3 위험(나이 확인 없음·친구 초대), 카드 4 신뢰 가능(출처·작성일 표시).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 (7분). 교사가 다섯 기준을 먼저 알려 주지 않고 학생 의견에서 도출합니다. 빠진 범주는 질문으로 이끌어 냅니다(예: “누가 만든 건지 알 수 있을까?”).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3~5. 학생 의견을 묶어 출처–근거–의도–표현–재확인의 다섯 범주로 구조화한 결과입니다. 질문 문구는 학생들의 표현을 반영해 최종 확정합니다(체크리스트 활동지 3쪽).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4 (6분). 활동지 3쪽 활동 4. 몸·돈·관계에 해가 될 수 있거나 재촉·숨김 표현이 있으면 위험·행동 보류(누르기·공유·구매 전에 멈춤)로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전개 5 (5분). 학생들의 표현을 반영해 문구를 확정하고 학급 공통 체크리스트를 완성합니다. 모든 정보를 점수만으로 기계적으로 판단하지 않도록 안내하고, 최종본은 게시해 차시마다 활용합니다.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1 (5분). 개인 활동으로 실제 판단 능력을 확인합니다. 교사 참고: 추가 확인 필요가 자연스러운 판단(자체 설문, 판매 의도, 후기 보상). 정답 하나를 요구하기보다 근거의 타당성을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 (2분). 활동지 4쪽의 “앞으로 정보를 볼 때 내가 가장 먼저 확인할 것은 ____이다. 그 이유는 ____이다.”를 작성합니다. 2~10차시에서 오늘 만든 체크리스트를 계속 사용함을 안내하고, 도움을 청할 수 있는 곳을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FRAM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70732" y="246888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 리터러시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정보, 믿기 전에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확인할까?</a:t>
            </a:r>
            <a:endParaRPr lang="en-US" sz="5600" dirty="0"/>
          </a:p>
        </p:txBody>
      </p:sp>
      <p:sp>
        <p:nvSpPr>
          <p:cNvPr id="4" name="정보 바"/>
          <p:cNvSpPr/>
          <p:nvPr/>
        </p:nvSpPr>
        <p:spPr>
          <a:xfrm>
            <a:off x="1828800" y="3268980"/>
            <a:ext cx="5486400" cy="53035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정보 바 구분선"/>
          <p:cNvSpPr/>
          <p:nvPr/>
        </p:nvSpPr>
        <p:spPr>
          <a:xfrm>
            <a:off x="4572000" y="3410712"/>
            <a:ext cx="0" cy="246888"/>
          </a:xfrm>
          <a:prstGeom prst="line">
            <a:avLst/>
          </a:prstGeom>
          <a:noFill/>
          <a:ln w="12700">
            <a:solidFill>
              <a:srgbClr val="77777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5740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교과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보건 (단독 수업)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689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차시  </a:t>
            </a:r>
            <a:pPr indent="0" marL="0">
              <a:buNone/>
            </a:pPr>
            <a:r>
              <a:rPr lang="en-US" sz="15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10 · 45분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Lesson 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4434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오색렌즈 교사연구회</a:t>
            </a:r>
            <a:endParaRPr lang="en-US" sz="12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정보 판정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Warm-up</a:t>
            </a:r>
            <a:endParaRPr lang="en-US" sz="2800" dirty="0"/>
          </a:p>
        </p:txBody>
      </p:sp>
      <p:sp>
        <p:nvSpPr>
          <p:cNvPr id="4" name="판정 카드 1"/>
          <p:cNvSpPr/>
          <p:nvPr/>
        </p:nvSpPr>
        <p:spPr>
          <a:xfrm>
            <a:off x="475488" y="123444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17830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수 있다</a:t>
            </a:r>
            <a:endParaRPr lang="en-US" sz="2400" dirty="0"/>
          </a:p>
        </p:txBody>
      </p:sp>
      <p:sp>
        <p:nvSpPr>
          <p:cNvPr id="7" name="판정 카드 2"/>
          <p:cNvSpPr/>
          <p:nvPr/>
        </p:nvSpPr>
        <p:spPr>
          <a:xfrm>
            <a:off x="3264408" y="123444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38728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264408" y="17830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조금 의심된다</a:t>
            </a:r>
            <a:endParaRPr lang="en-US" sz="2400" dirty="0"/>
          </a:p>
        </p:txBody>
      </p:sp>
      <p:sp>
        <p:nvSpPr>
          <p:cNvPr id="10" name="판정 카드 3"/>
          <p:cNvSpPr/>
          <p:nvPr/>
        </p:nvSpPr>
        <p:spPr>
          <a:xfrm>
            <a:off x="6053328" y="1234440"/>
            <a:ext cx="2615184" cy="1325880"/>
          </a:xfrm>
          <a:prstGeom prst="roundRect">
            <a:avLst>
              <a:gd name="adj" fmla="val 8276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27648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053328" y="178308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위험할 것 같다</a:t>
            </a:r>
            <a:endParaRPr lang="en-US" sz="2400" dirty="0"/>
          </a:p>
        </p:txBody>
      </p:sp>
      <p:sp>
        <p:nvSpPr>
          <p:cNvPr id="13" name="규칙 카드"/>
          <p:cNvSpPr/>
          <p:nvPr/>
        </p:nvSpPr>
        <p:spPr>
          <a:xfrm>
            <a:off x="475488" y="2834640"/>
            <a:ext cx="8193024" cy="1554480"/>
          </a:xfrm>
          <a:prstGeom prst="roundRect">
            <a:avLst>
              <a:gd name="adj" fmla="val 7059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규칙 라벨"/>
          <p:cNvSpPr/>
          <p:nvPr/>
        </p:nvSpPr>
        <p:spPr>
          <a:xfrm>
            <a:off x="731520" y="301752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1752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401568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 4개를 3초씩 보여 줘요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느낌대로 하나를 골라 활동지 1쪽에 체크해요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그렇게 고른 이유를 한 줄로 써요. 정답은 없어요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정보, 믿을 수 있을까?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Info A–D</a:t>
            </a:r>
            <a:endParaRPr lang="en-US" sz="2800" dirty="0"/>
          </a:p>
        </p:txBody>
      </p:sp>
      <p:sp>
        <p:nvSpPr>
          <p:cNvPr id="4" name="정보 카드 1"/>
          <p:cNvSpPr/>
          <p:nvPr/>
        </p:nvSpPr>
        <p:spPr>
          <a:xfrm>
            <a:off x="475488" y="1188720"/>
            <a:ext cx="4032504" cy="1536192"/>
          </a:xfrm>
          <a:prstGeom prst="roundRect">
            <a:avLst>
              <a:gd name="adj" fmla="val 714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 · SNS 게시물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6459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기간엔 이거 하나면 끝! 마시면 집중력이 2배로 올라가고, 잠은 안 자도 괜찮아요. 오늘만 1+1!</a:t>
            </a:r>
            <a:endParaRPr lang="en-US" sz="1400" dirty="0"/>
          </a:p>
        </p:txBody>
      </p:sp>
      <p:sp>
        <p:nvSpPr>
          <p:cNvPr id="7" name="정보 카드 2"/>
          <p:cNvSpPr/>
          <p:nvPr/>
        </p:nvSpPr>
        <p:spPr>
          <a:xfrm>
            <a:off x="4636008" y="1188720"/>
            <a:ext cx="4032504" cy="1536192"/>
          </a:xfrm>
          <a:prstGeom prst="roundRect">
            <a:avLst>
              <a:gd name="adj" fmla="val 714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 · 단체대화방 메시지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64592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 먹고 쓰러진 사람이 있대! 누구한테 들은 건지는 몰라. 빨리 다른 방에도 퍼뜨려 줘!</a:t>
            </a:r>
            <a:endParaRPr lang="en-US" sz="1400" dirty="0"/>
          </a:p>
        </p:txBody>
      </p:sp>
      <p:sp>
        <p:nvSpPr>
          <p:cNvPr id="10" name="정보 카드 3"/>
          <p:cNvSpPr/>
          <p:nvPr/>
        </p:nvSpPr>
        <p:spPr>
          <a:xfrm>
            <a:off x="475488" y="2834640"/>
            <a:ext cx="4032504" cy="1536192"/>
          </a:xfrm>
          <a:prstGeom prst="roundRect">
            <a:avLst>
              <a:gd name="adj" fmla="val 714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 · 공공기관 자료 요약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2918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수면이 부족하면 낮 동안 집중하기 어려울 수 있어요. 규칙적인 수면 습관이 도움이 돼요. (2026. 9. · 출처 표시)</a:t>
            </a:r>
            <a:endParaRPr lang="en-US" sz="1400" dirty="0"/>
          </a:p>
        </p:txBody>
      </p:sp>
      <p:sp>
        <p:nvSpPr>
          <p:cNvPr id="13" name="정보 카드 4"/>
          <p:cNvSpPr/>
          <p:nvPr/>
        </p:nvSpPr>
        <p:spPr>
          <a:xfrm>
            <a:off x="4636008" y="2834640"/>
            <a:ext cx="4032504" cy="1536192"/>
          </a:xfrm>
          <a:prstGeom prst="roundRect">
            <a:avLst>
              <a:gd name="adj" fmla="val 7143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 · 영상 후기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329184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인기 영상 제작자의 단백질 간식 솔직 후기! 맛도 좋고 몸에도 좋대요. (제품 제공 표시: 설명란 맨 아래 작은 글씨)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정보, 다른 판단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Discussion</a:t>
            </a:r>
            <a:endParaRPr lang="en-US" sz="2800" dirty="0"/>
          </a:p>
        </p:txBody>
      </p:sp>
      <p:sp>
        <p:nvSpPr>
          <p:cNvPr id="4" name="발문 카드 1"/>
          <p:cNvSpPr/>
          <p:nvPr/>
        </p:nvSpPr>
        <p:spPr>
          <a:xfrm>
            <a:off x="475488" y="1280160"/>
            <a:ext cx="4032504" cy="2286000"/>
          </a:xfrm>
          <a:prstGeom prst="roundRect">
            <a:avLst>
              <a:gd name="adj" fmla="val 48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발문 라벨 1"/>
          <p:cNvSpPr/>
          <p:nvPr/>
        </p:nvSpPr>
        <p:spPr>
          <a:xfrm>
            <a:off x="795528" y="15544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057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무엇을 보고 이 정보를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믿거나 의심했을까?</a:t>
            </a:r>
            <a:endParaRPr lang="en-US" sz="2000" dirty="0"/>
          </a:p>
        </p:txBody>
      </p:sp>
      <p:sp>
        <p:nvSpPr>
          <p:cNvPr id="8" name="발문 카드 2"/>
          <p:cNvSpPr/>
          <p:nvPr/>
        </p:nvSpPr>
        <p:spPr>
          <a:xfrm>
            <a:off x="4636008" y="1280160"/>
            <a:ext cx="4032504" cy="2286000"/>
          </a:xfrm>
          <a:prstGeom prst="roundRect">
            <a:avLst>
              <a:gd name="adj" fmla="val 48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9" name="발문 라벨 2"/>
          <p:cNvSpPr/>
          <p:nvPr/>
        </p:nvSpPr>
        <p:spPr>
          <a:xfrm>
            <a:off x="4956048" y="15544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6048" y="15544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QUESTION 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205740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수가 많으면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수 있는 정보일까?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3840480"/>
            <a:ext cx="819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친구와 판단이 달랐던 정보를 골라, 그 이유를 말해 봐요.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Learning Question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68580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정보를 믿고 따르기 전에,</a:t>
            </a:r>
            <a:endParaRPr lang="en-US" sz="30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 확인해야 할까?</a:t>
            </a:r>
            <a:endParaRPr lang="en-US" sz="3000" dirty="0"/>
          </a:p>
        </p:txBody>
      </p:sp>
      <p:sp>
        <p:nvSpPr>
          <p:cNvPr id="4" name="목표 카드 1"/>
          <p:cNvSpPr/>
          <p:nvPr/>
        </p:nvSpPr>
        <p:spPr>
          <a:xfrm>
            <a:off x="237744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37744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설명하기</a:t>
            </a:r>
            <a:endParaRPr lang="en-US" sz="2200" dirty="0"/>
          </a:p>
        </p:txBody>
      </p:sp>
      <p:sp>
        <p:nvSpPr>
          <p:cNvPr id="6" name="카드 구분선 1"/>
          <p:cNvSpPr/>
          <p:nvPr/>
        </p:nvSpPr>
        <p:spPr>
          <a:xfrm>
            <a:off x="512064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7" name="체크 1"/>
          <p:cNvSpPr/>
          <p:nvPr/>
        </p:nvSpPr>
        <p:spPr>
          <a:xfrm>
            <a:off x="512064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체크 1 획1"/>
          <p:cNvSpPr/>
          <p:nvPr/>
        </p:nvSpPr>
        <p:spPr>
          <a:xfrm>
            <a:off x="600944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9" name="체크 1 획2"/>
          <p:cNvSpPr/>
          <p:nvPr/>
        </p:nvSpPr>
        <p:spPr>
          <a:xfrm flipV="1">
            <a:off x="660197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9264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건강정보와 유해정보가 무엇인지 내 말로 설명해요.</a:t>
            </a:r>
            <a:endParaRPr lang="en-US" sz="1500" dirty="0"/>
          </a:p>
        </p:txBody>
      </p:sp>
      <p:sp>
        <p:nvSpPr>
          <p:cNvPr id="11" name="목표 번호 1"/>
          <p:cNvSpPr/>
          <p:nvPr/>
        </p:nvSpPr>
        <p:spPr>
          <a:xfrm>
            <a:off x="512064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01</a:t>
            </a:r>
            <a:endParaRPr lang="en-US" sz="1200" dirty="0"/>
          </a:p>
        </p:txBody>
      </p:sp>
      <p:sp>
        <p:nvSpPr>
          <p:cNvPr id="13" name="목표 카드 2"/>
          <p:cNvSpPr/>
          <p:nvPr/>
        </p:nvSpPr>
        <p:spPr>
          <a:xfrm>
            <a:off x="3154680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54680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적용하기</a:t>
            </a:r>
            <a:endParaRPr lang="en-US" sz="2200" dirty="0"/>
          </a:p>
        </p:txBody>
      </p:sp>
      <p:sp>
        <p:nvSpPr>
          <p:cNvPr id="15" name="카드 구분선 2"/>
          <p:cNvSpPr/>
          <p:nvPr/>
        </p:nvSpPr>
        <p:spPr>
          <a:xfrm>
            <a:off x="3429000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16" name="체크 2"/>
          <p:cNvSpPr/>
          <p:nvPr/>
        </p:nvSpPr>
        <p:spPr>
          <a:xfrm>
            <a:off x="3429000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체크 2 획1"/>
          <p:cNvSpPr/>
          <p:nvPr/>
        </p:nvSpPr>
        <p:spPr>
          <a:xfrm>
            <a:off x="3517880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8" name="체크 2 획2"/>
          <p:cNvSpPr/>
          <p:nvPr/>
        </p:nvSpPr>
        <p:spPr>
          <a:xfrm flipV="1">
            <a:off x="3577133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86200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5가지 기준으로 정보를 판단하고 근거를 말해요.</a:t>
            </a:r>
            <a:endParaRPr lang="en-US" sz="1500" dirty="0"/>
          </a:p>
        </p:txBody>
      </p:sp>
      <p:sp>
        <p:nvSpPr>
          <p:cNvPr id="20" name="목표 번호 2"/>
          <p:cNvSpPr/>
          <p:nvPr/>
        </p:nvSpPr>
        <p:spPr>
          <a:xfrm>
            <a:off x="3429000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02</a:t>
            </a:r>
            <a:endParaRPr lang="en-US" sz="1200" dirty="0"/>
          </a:p>
        </p:txBody>
      </p:sp>
      <p:sp>
        <p:nvSpPr>
          <p:cNvPr id="22" name="목표 카드 3"/>
          <p:cNvSpPr/>
          <p:nvPr/>
        </p:nvSpPr>
        <p:spPr>
          <a:xfrm>
            <a:off x="6071616" y="2103120"/>
            <a:ext cx="28300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71616" y="2240280"/>
            <a:ext cx="2830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만들기</a:t>
            </a:r>
            <a:endParaRPr lang="en-US" sz="2200" dirty="0"/>
          </a:p>
        </p:txBody>
      </p:sp>
      <p:sp>
        <p:nvSpPr>
          <p:cNvPr id="24" name="카드 구분선 3"/>
          <p:cNvSpPr/>
          <p:nvPr/>
        </p:nvSpPr>
        <p:spPr>
          <a:xfrm>
            <a:off x="6345936" y="2834640"/>
            <a:ext cx="228142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25" name="체크 3"/>
          <p:cNvSpPr/>
          <p:nvPr/>
        </p:nvSpPr>
        <p:spPr>
          <a:xfrm>
            <a:off x="6345936" y="310896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6" name="체크 3 획1"/>
          <p:cNvSpPr/>
          <p:nvPr/>
        </p:nvSpPr>
        <p:spPr>
          <a:xfrm>
            <a:off x="6434816" y="3273552"/>
            <a:ext cx="59253" cy="65837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7" name="체크 3 획2"/>
          <p:cNvSpPr/>
          <p:nvPr/>
        </p:nvSpPr>
        <p:spPr>
          <a:xfrm flipV="1">
            <a:off x="6494069" y="3207715"/>
            <a:ext cx="92172" cy="13167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03136" y="30175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친구들과 우리 반 체크리스트를 만들어요.</a:t>
            </a:r>
            <a:endParaRPr lang="en-US" sz="1500" dirty="0"/>
          </a:p>
        </p:txBody>
      </p:sp>
      <p:sp>
        <p:nvSpPr>
          <p:cNvPr id="29" name="목표 번호 3"/>
          <p:cNvSpPr/>
          <p:nvPr/>
        </p:nvSpPr>
        <p:spPr>
          <a:xfrm>
            <a:off x="6345936" y="411480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45936" y="41148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 03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건강정보일까?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Health Information</a:t>
            </a:r>
            <a:endParaRPr lang="en-US" sz="2800" dirty="0"/>
          </a:p>
        </p:txBody>
      </p:sp>
      <p:sp>
        <p:nvSpPr>
          <p:cNvPr id="4" name="범위 카드 1"/>
          <p:cNvSpPr/>
          <p:nvPr/>
        </p:nvSpPr>
        <p:spPr>
          <a:xfrm>
            <a:off x="475488" y="118872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범위 표식 1"/>
          <p:cNvSpPr/>
          <p:nvPr/>
        </p:nvSpPr>
        <p:spPr>
          <a:xfrm>
            <a:off x="704088" y="141732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188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음식 · 영양</a:t>
            </a:r>
            <a:endParaRPr lang="en-US" sz="1600" dirty="0"/>
          </a:p>
        </p:txBody>
      </p:sp>
      <p:sp>
        <p:nvSpPr>
          <p:cNvPr id="7" name="범위 카드 2"/>
          <p:cNvSpPr/>
          <p:nvPr/>
        </p:nvSpPr>
        <p:spPr>
          <a:xfrm>
            <a:off x="3264408" y="118872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범위 표식 2"/>
          <p:cNvSpPr/>
          <p:nvPr/>
        </p:nvSpPr>
        <p:spPr>
          <a:xfrm>
            <a:off x="3493008" y="141732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58768" y="1188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 · 다이어트</a:t>
            </a:r>
            <a:endParaRPr lang="en-US" sz="1600" dirty="0"/>
          </a:p>
        </p:txBody>
      </p:sp>
      <p:sp>
        <p:nvSpPr>
          <p:cNvPr id="10" name="범위 카드 3"/>
          <p:cNvSpPr/>
          <p:nvPr/>
        </p:nvSpPr>
        <p:spPr>
          <a:xfrm>
            <a:off x="6053328" y="118872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범위 표식 3"/>
          <p:cNvSpPr/>
          <p:nvPr/>
        </p:nvSpPr>
        <p:spPr>
          <a:xfrm>
            <a:off x="6281928" y="141732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47688" y="1188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약물 · 카페인</a:t>
            </a:r>
            <a:endParaRPr lang="en-US" sz="1600" dirty="0"/>
          </a:p>
        </p:txBody>
      </p:sp>
      <p:sp>
        <p:nvSpPr>
          <p:cNvPr id="13" name="범위 카드 4"/>
          <p:cNvSpPr/>
          <p:nvPr/>
        </p:nvSpPr>
        <p:spPr>
          <a:xfrm>
            <a:off x="475488" y="196596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범위 표식 4"/>
          <p:cNvSpPr/>
          <p:nvPr/>
        </p:nvSpPr>
        <p:spPr>
          <a:xfrm>
            <a:off x="704088" y="21945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1965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수면 · 정신건강</a:t>
            </a:r>
            <a:endParaRPr lang="en-US" sz="1600" dirty="0"/>
          </a:p>
        </p:txBody>
      </p:sp>
      <p:sp>
        <p:nvSpPr>
          <p:cNvPr id="16" name="범위 카드 5"/>
          <p:cNvSpPr/>
          <p:nvPr/>
        </p:nvSpPr>
        <p:spPr>
          <a:xfrm>
            <a:off x="3264408" y="196596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7" name="범위 표식 5"/>
          <p:cNvSpPr/>
          <p:nvPr/>
        </p:nvSpPr>
        <p:spPr>
          <a:xfrm>
            <a:off x="3493008" y="21945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58768" y="1965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외모 · 건강제품 광고</a:t>
            </a:r>
            <a:endParaRPr lang="en-US" sz="1600" dirty="0"/>
          </a:p>
        </p:txBody>
      </p:sp>
      <p:sp>
        <p:nvSpPr>
          <p:cNvPr id="19" name="범위 카드 6"/>
          <p:cNvSpPr/>
          <p:nvPr/>
        </p:nvSpPr>
        <p:spPr>
          <a:xfrm>
            <a:off x="6053328" y="1965960"/>
            <a:ext cx="2615184" cy="658368"/>
          </a:xfrm>
          <a:prstGeom prst="roundRect">
            <a:avLst>
              <a:gd name="adj" fmla="val 1388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0" name="범위 표식 6"/>
          <p:cNvSpPr/>
          <p:nvPr/>
        </p:nvSpPr>
        <p:spPr>
          <a:xfrm>
            <a:off x="6281928" y="219456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47688" y="19659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도박 · 게임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" y="2788920"/>
            <a:ext cx="8193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질병 정보만이 아니라, 내 몸과 마음, 생활습관, 선택에 영향을 주는 모든 정보예요.</a:t>
            </a:r>
            <a:endParaRPr lang="en-US" sz="1400" dirty="0"/>
          </a:p>
        </p:txBody>
      </p:sp>
      <p:sp>
        <p:nvSpPr>
          <p:cNvPr id="23" name="유해정보 카드"/>
          <p:cNvSpPr/>
          <p:nvPr/>
        </p:nvSpPr>
        <p:spPr>
          <a:xfrm>
            <a:off x="475488" y="3291840"/>
            <a:ext cx="8193024" cy="1188720"/>
          </a:xfrm>
          <a:prstGeom prst="roundRect">
            <a:avLst>
              <a:gd name="adj" fmla="val 9231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24" name="유해정보 라벨"/>
          <p:cNvSpPr/>
          <p:nvPr/>
        </p:nvSpPr>
        <p:spPr>
          <a:xfrm>
            <a:off x="731520" y="3493008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4930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유해정보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194560" y="3401568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건강정보 중 근거 없이 몸·마음·돈·관계에 해를 줄 수 있는 정보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오늘은 이런 정보를 구분하는 기준을 만들어요.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정보, 왜 의심했을까?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Group Work</a:t>
            </a:r>
            <a:endParaRPr lang="en-US" sz="2800" dirty="0"/>
          </a:p>
        </p:txBody>
      </p:sp>
      <p:sp>
        <p:nvSpPr>
          <p:cNvPr id="4" name="사례 카드 1"/>
          <p:cNvSpPr/>
          <p:nvPr/>
        </p:nvSpPr>
        <p:spPr>
          <a:xfrm>
            <a:off x="47548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0408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다이어트 광고</a:t>
            </a:r>
            <a:endParaRPr lang="en-US" sz="1700" dirty="0"/>
          </a:p>
        </p:txBody>
      </p:sp>
      <p:sp>
        <p:nvSpPr>
          <p:cNvPr id="7" name="사례 카드 2"/>
          <p:cNvSpPr/>
          <p:nvPr/>
        </p:nvSpPr>
        <p:spPr>
          <a:xfrm>
            <a:off x="2807208" y="12344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35808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035808" y="17830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 추천</a:t>
            </a:r>
            <a:endParaRPr lang="en-US" sz="1700" dirty="0"/>
          </a:p>
        </p:txBody>
      </p:sp>
      <p:sp>
        <p:nvSpPr>
          <p:cNvPr id="10" name="사례 카드 3"/>
          <p:cNvSpPr/>
          <p:nvPr/>
        </p:nvSpPr>
        <p:spPr>
          <a:xfrm>
            <a:off x="47548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광고</a:t>
            </a:r>
            <a:endParaRPr lang="en-US" sz="1700" dirty="0"/>
          </a:p>
        </p:txBody>
      </p:sp>
      <p:sp>
        <p:nvSpPr>
          <p:cNvPr id="13" name="사례 카드 4"/>
          <p:cNvSpPr/>
          <p:nvPr/>
        </p:nvSpPr>
        <p:spPr>
          <a:xfrm>
            <a:off x="2807208" y="283464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3580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35808" y="33832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공공기관 건강 안내</a:t>
            </a:r>
            <a:endParaRPr lang="en-US" sz="1700" dirty="0"/>
          </a:p>
        </p:txBody>
      </p:sp>
      <p:sp>
        <p:nvSpPr>
          <p:cNvPr id="16" name="활동 방법 카드"/>
          <p:cNvSpPr/>
          <p:nvPr/>
        </p:nvSpPr>
        <p:spPr>
          <a:xfrm>
            <a:off x="5212080" y="1234440"/>
            <a:ext cx="3456432" cy="3063240"/>
          </a:xfrm>
          <a:prstGeom prst="roundRect">
            <a:avLst>
              <a:gd name="adj" fmla="val 3582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7" name="방법 라벨"/>
          <p:cNvSpPr/>
          <p:nvPr/>
        </p:nvSpPr>
        <p:spPr>
          <a:xfrm>
            <a:off x="5468112" y="141732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68112" y="1417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9" name="파랑 표식"/>
          <p:cNvSpPr/>
          <p:nvPr/>
        </p:nvSpPr>
        <p:spPr>
          <a:xfrm>
            <a:off x="5468112" y="2057400"/>
            <a:ext cx="256032" cy="2560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52160" y="19659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믿게 만드는 요소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(파란색 밑줄)</a:t>
            </a:r>
            <a:endParaRPr lang="en-US" sz="1400" dirty="0"/>
          </a:p>
        </p:txBody>
      </p:sp>
      <p:sp>
        <p:nvSpPr>
          <p:cNvPr id="21" name="주황 표식"/>
          <p:cNvSpPr/>
          <p:nvPr/>
        </p:nvSpPr>
        <p:spPr>
          <a:xfrm>
            <a:off x="5468112" y="2697480"/>
            <a:ext cx="256032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의심하게 만드는 요소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(빨간색 밑줄)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68112" y="3337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모둠마다 다른 카드를 받아요.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후 한 문장씩 발표해요.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이것만큼은 꼭 확인해야 해!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Criteria</a:t>
            </a:r>
            <a:endParaRPr lang="en-US" sz="2800" dirty="0"/>
          </a:p>
        </p:txBody>
      </p:sp>
      <p:sp>
        <p:nvSpPr>
          <p:cNvPr id="4" name="순서 1"/>
          <p:cNvSpPr/>
          <p:nvPr/>
        </p:nvSpPr>
        <p:spPr>
          <a:xfrm>
            <a:off x="475488" y="123444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23444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모둠이 의논해요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“이것만큼은 꼭 확인해야 한다”고 생각하는 기준 2~3개</a:t>
            </a:r>
            <a:endParaRPr lang="en-US" sz="1900" dirty="0"/>
          </a:p>
        </p:txBody>
      </p:sp>
      <p:sp>
        <p:nvSpPr>
          <p:cNvPr id="7" name="순서 2"/>
          <p:cNvSpPr/>
          <p:nvPr/>
        </p:nvSpPr>
        <p:spPr>
          <a:xfrm>
            <a:off x="475488" y="233172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3172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233172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포스트잇에 써서 붙여요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장에 기준 하나, 칠판에 모두 붙여요</a:t>
            </a:r>
            <a:endParaRPr lang="en-US" sz="1900" dirty="0"/>
          </a:p>
        </p:txBody>
      </p:sp>
      <p:sp>
        <p:nvSpPr>
          <p:cNvPr id="10" name="순서 3"/>
          <p:cNvSpPr/>
          <p:nvPr/>
        </p:nvSpPr>
        <p:spPr>
          <a:xfrm>
            <a:off x="475488" y="3429000"/>
            <a:ext cx="8193024" cy="960120"/>
          </a:xfrm>
          <a:prstGeom prst="roundRect">
            <a:avLst>
              <a:gd name="adj" fmla="val 1142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2900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42900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선생님이 묶어 줘요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비슷한 의견끼리 묶어 이름을 붙여요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정보 체크리스트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5문(問)</a:t>
            </a:r>
            <a:endParaRPr lang="en-US" sz="2800" dirty="0"/>
          </a:p>
        </p:txBody>
      </p:sp>
      <p:sp>
        <p:nvSpPr>
          <p:cNvPr id="4" name="체크 카드 1"/>
          <p:cNvSpPr/>
          <p:nvPr/>
        </p:nvSpPr>
        <p:spPr>
          <a:xfrm>
            <a:off x="475488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만들었나?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사람·기관, 작성일</a:t>
            </a:r>
            <a:endParaRPr lang="en-US" sz="1200" dirty="0"/>
          </a:p>
        </p:txBody>
      </p:sp>
      <p:sp>
        <p:nvSpPr>
          <p:cNvPr id="9" name="체크 카드 2"/>
          <p:cNvSpPr/>
          <p:nvPr/>
        </p:nvSpPr>
        <p:spPr>
          <a:xfrm>
            <a:off x="2130552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95144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95144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95144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있나?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자료·전문가·연구</a:t>
            </a:r>
            <a:endParaRPr lang="en-US" sz="1200" dirty="0"/>
          </a:p>
        </p:txBody>
      </p:sp>
      <p:sp>
        <p:nvSpPr>
          <p:cNvPr id="14" name="체크 카드 3"/>
          <p:cNvSpPr/>
          <p:nvPr/>
        </p:nvSpPr>
        <p:spPr>
          <a:xfrm>
            <a:off x="3785616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0208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3950208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원하나?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50208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구매·공유·광고 표시</a:t>
            </a:r>
            <a:endParaRPr lang="en-US" sz="1200" dirty="0"/>
          </a:p>
        </p:txBody>
      </p:sp>
      <p:sp>
        <p:nvSpPr>
          <p:cNvPr id="19" name="체크 카드 4"/>
          <p:cNvSpPr/>
          <p:nvPr/>
        </p:nvSpPr>
        <p:spPr>
          <a:xfrm>
            <a:off x="5440680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05272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605272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표현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05272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말하고 있나?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605272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과장·단정·재촉·비밀</a:t>
            </a:r>
            <a:endParaRPr lang="en-US" sz="1200" dirty="0"/>
          </a:p>
        </p:txBody>
      </p:sp>
      <p:sp>
        <p:nvSpPr>
          <p:cNvPr id="24" name="체크 카드 5"/>
          <p:cNvSpPr/>
          <p:nvPr/>
        </p:nvSpPr>
        <p:spPr>
          <a:xfrm>
            <a:off x="7095744" y="1234440"/>
            <a:ext cx="1572768" cy="25146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5875">
            <a:solidFill>
              <a:srgbClr val="C9C9C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0336" y="1371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260336" y="1874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재확인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260336" y="21945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곳에서도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확인되나?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260336" y="3063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믿을 만한 다른 자료</a:t>
            </a:r>
            <a:endParaRPr lang="en-US" sz="1200" dirty="0"/>
          </a:p>
        </p:txBody>
      </p:sp>
      <p:sp>
        <p:nvSpPr>
          <p:cNvPr id="29" name="배너"/>
          <p:cNvSpPr/>
          <p:nvPr/>
        </p:nvSpPr>
        <p:spPr>
          <a:xfrm>
            <a:off x="475488" y="3931920"/>
            <a:ext cx="8193024" cy="566928"/>
          </a:xfrm>
          <a:prstGeom prst="roundRect">
            <a:avLst>
              <a:gd name="adj" fmla="val 16129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5488" y="3931920"/>
            <a:ext cx="8193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의견을 반영해 우리 반 문장으로 고쳐 써요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5문으로 다시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Apply &amp; Judge</a:t>
            </a:r>
            <a:endParaRPr lang="en-US" sz="2800" dirty="0"/>
          </a:p>
        </p:txBody>
      </p:sp>
      <p:sp>
        <p:nvSpPr>
          <p:cNvPr id="4" name="판단 카드 1"/>
          <p:cNvSpPr/>
          <p:nvPr/>
        </p:nvSpPr>
        <p:spPr>
          <a:xfrm>
            <a:off x="475488" y="123444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5488" y="137160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가능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9659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확인한 단서가 충분해요</a:t>
            </a:r>
            <a:endParaRPr lang="en-US" sz="1300" dirty="0"/>
          </a:p>
        </p:txBody>
      </p:sp>
      <p:sp>
        <p:nvSpPr>
          <p:cNvPr id="7" name="판단 카드 2"/>
          <p:cNvSpPr/>
          <p:nvPr/>
        </p:nvSpPr>
        <p:spPr>
          <a:xfrm>
            <a:off x="3264408" y="123444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64408" y="137160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확인 필요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9659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 알아봐야 해요</a:t>
            </a:r>
            <a:endParaRPr lang="en-US" sz="1300" dirty="0"/>
          </a:p>
        </p:txBody>
      </p:sp>
      <p:sp>
        <p:nvSpPr>
          <p:cNvPr id="10" name="판단 카드 3"/>
          <p:cNvSpPr/>
          <p:nvPr/>
        </p:nvSpPr>
        <p:spPr>
          <a:xfrm>
            <a:off x="6053328" y="1234440"/>
            <a:ext cx="2615184" cy="1554480"/>
          </a:xfrm>
          <a:prstGeom prst="roundRect">
            <a:avLst>
              <a:gd name="adj" fmla="val 7059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53328" y="137160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위험·행동 보류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190488" y="1965960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몸·돈·관계에 해가 될 수 있거나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7777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재촉·숨김이 있어요</a:t>
            </a:r>
            <a:endParaRPr lang="en-US" sz="1300" dirty="0"/>
          </a:p>
        </p:txBody>
      </p:sp>
      <p:sp>
        <p:nvSpPr>
          <p:cNvPr id="13" name="적용 방법 카드"/>
          <p:cNvSpPr/>
          <p:nvPr/>
        </p:nvSpPr>
        <p:spPr>
          <a:xfrm>
            <a:off x="475488" y="3017520"/>
            <a:ext cx="8193024" cy="1371600"/>
          </a:xfrm>
          <a:prstGeom prst="roundRect">
            <a:avLst>
              <a:gd name="adj" fmla="val 8000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4" name="방법 라벨"/>
          <p:cNvSpPr/>
          <p:nvPr/>
        </p:nvSpPr>
        <p:spPr>
          <a:xfrm>
            <a:off x="731520" y="3182112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18211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566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도입에서 본 가~라를 5문으로 다시 살펴봐요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하나 고르고, 처음 느낌과 달라진 점을 비교해요</a:t>
            </a:r>
            <a:endParaRPr lang="en-US" sz="15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맞다/틀리다가 아니라, 어떤 단서로 판단했는지가 중요해요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반 체크리스트 완성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Our Checklist</a:t>
            </a:r>
            <a:endParaRPr lang="en-US" sz="2800" dirty="0"/>
          </a:p>
        </p:txBody>
      </p:sp>
      <p:sp>
        <p:nvSpPr>
          <p:cNvPr id="4" name="고치는 방법 카드"/>
          <p:cNvSpPr/>
          <p:nvPr/>
        </p:nvSpPr>
        <p:spPr>
          <a:xfrm>
            <a:off x="475488" y="1234440"/>
            <a:ext cx="384048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이렇게 고쳐요</a:t>
            </a:r>
            <a:endParaRPr lang="en-US" sz="2000" dirty="0"/>
          </a:p>
        </p:txBody>
      </p:sp>
      <p:sp>
        <p:nvSpPr>
          <p:cNvPr id="6" name="카드 구분선 1"/>
          <p:cNvSpPr/>
          <p:nvPr/>
        </p:nvSpPr>
        <p:spPr>
          <a:xfrm>
            <a:off x="777240" y="1920240"/>
            <a:ext cx="3246120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03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질문을 읽어 봐요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1635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8163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말투로 고쳐 써요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2958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29584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함께 최종 문구를 정해요</a:t>
            </a:r>
            <a:endParaRPr lang="en-US" sz="1600" dirty="0"/>
          </a:p>
        </p:txBody>
      </p:sp>
      <p:sp>
        <p:nvSpPr>
          <p:cNvPr id="13" name="화살표"/>
          <p:cNvSpPr/>
          <p:nvPr/>
        </p:nvSpPr>
        <p:spPr>
          <a:xfrm>
            <a:off x="4462272" y="2514600"/>
            <a:ext cx="274320" cy="548640"/>
          </a:xfrm>
          <a:prstGeom prst="chevron">
            <a:avLst/>
          </a:prstGeom>
          <a:solidFill>
            <a:srgbClr val="FF9E7A"/>
          </a:solidFill>
          <a:ln w="12700">
            <a:solidFill>
              <a:srgbClr val="FF9E7A"/>
            </a:solidFill>
            <a:prstDash val="solid"/>
          </a:ln>
        </p:spPr>
      </p:sp>
      <p:sp>
        <p:nvSpPr>
          <p:cNvPr id="14" name="활용 카드"/>
          <p:cNvSpPr/>
          <p:nvPr/>
        </p:nvSpPr>
        <p:spPr>
          <a:xfrm>
            <a:off x="4892040" y="1234440"/>
            <a:ext cx="377647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521208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이렇게 써요</a:t>
            </a:r>
            <a:endParaRPr lang="en-US" sz="2000" dirty="0"/>
          </a:p>
        </p:txBody>
      </p:sp>
      <p:sp>
        <p:nvSpPr>
          <p:cNvPr id="16" name="카드 구분선 2"/>
          <p:cNvSpPr/>
          <p:nvPr/>
        </p:nvSpPr>
        <p:spPr>
          <a:xfrm>
            <a:off x="5212080" y="1920240"/>
            <a:ext cx="3136392" cy="0"/>
          </a:xfrm>
          <a:prstGeom prst="line">
            <a:avLst/>
          </a:prstGeom>
          <a:noFill/>
          <a:ln w="12700">
            <a:solidFill>
              <a:srgbClr val="C9C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103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2~10차시에도 같은 체크리스트를 써요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쓰다가 고치고 싶은 곳이 생기면 함께 고쳐요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703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점수로만 판단하지 않아요.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표식"/>
          <p:cNvSpPr/>
          <p:nvPr/>
        </p:nvSpPr>
        <p:spPr>
          <a:xfrm>
            <a:off x="480060" y="708660"/>
            <a:ext cx="36576" cy="17373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30936" y="5669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정보, 혼자 판단해요</a:t>
            </a:r>
            <a:pPr algn="l" indent="0" marL="0">
              <a:buNone/>
            </a:pPr>
            <a:r>
              <a:rPr lang="en-US" sz="1400" b="1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Check-up</a:t>
            </a:r>
            <a:endParaRPr lang="en-US" sz="2800" dirty="0"/>
          </a:p>
        </p:txBody>
      </p:sp>
      <p:sp>
        <p:nvSpPr>
          <p:cNvPr id="4" name="마 카드"/>
          <p:cNvSpPr/>
          <p:nvPr/>
        </p:nvSpPr>
        <p:spPr>
          <a:xfrm>
            <a:off x="475488" y="1234440"/>
            <a:ext cx="4114800" cy="3154680"/>
          </a:xfrm>
          <a:prstGeom prst="roundRect">
            <a:avLst>
              <a:gd name="adj" fmla="val 4058"/>
            </a:avLst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5" name="마 라벨"/>
          <p:cNvSpPr/>
          <p:nvPr/>
        </p:nvSpPr>
        <p:spPr>
          <a:xfrm>
            <a:off x="777240" y="14630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FDEBE1"/>
          </a:solidFill>
          <a:ln w="12700">
            <a:solidFill>
              <a:srgbClr val="FD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 · 음료 광고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운동선수들이 먹는 단백질 음료! 98% 만족(자체 설문). 구매 후 후기를 남기면 포인트를 드려요.</a:t>
            </a:r>
            <a:endParaRPr lang="en-US" sz="1800" dirty="0"/>
          </a:p>
        </p:txBody>
      </p:sp>
      <p:sp>
        <p:nvSpPr>
          <p:cNvPr id="8" name="방법 카드"/>
          <p:cNvSpPr/>
          <p:nvPr/>
        </p:nvSpPr>
        <p:spPr>
          <a:xfrm>
            <a:off x="4846320" y="1234440"/>
            <a:ext cx="3822192" cy="3154680"/>
          </a:xfrm>
          <a:prstGeom prst="roundRect">
            <a:avLst>
              <a:gd name="adj" fmla="val 3478"/>
            </a:avLst>
          </a:prstGeom>
          <a:solidFill>
            <a:srgbClr val="FDEBE1"/>
          </a:solidFill>
          <a:ln w="22225">
            <a:solidFill>
              <a:srgbClr val="FF6B35"/>
            </a:solidFill>
            <a:prstDash val="dash"/>
          </a:ln>
        </p:spPr>
      </p:sp>
      <p:sp>
        <p:nvSpPr>
          <p:cNvPr id="9" name="방법 라벨"/>
          <p:cNvSpPr/>
          <p:nvPr/>
        </p:nvSpPr>
        <p:spPr>
          <a:xfrm>
            <a:off x="5120640" y="146304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TO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574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5문 중 필요한 기준을 골라 적용해요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하나 골라요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중요한 근거 한 가지를 써요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활동 · 활동지 4쪽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0" y="777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줄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정보를 볼 때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내가 가장 먼저 확인할 것은?</a:t>
            </a:r>
            <a:endParaRPr lang="en-US" sz="4400" dirty="0"/>
          </a:p>
        </p:txBody>
      </p:sp>
      <p:sp>
        <p:nvSpPr>
          <p:cNvPr id="5" name="위 구분선"/>
          <p:cNvSpPr/>
          <p:nvPr/>
        </p:nvSpPr>
        <p:spPr>
          <a:xfrm>
            <a:off x="1828800" y="333756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34015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· 사서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3401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출처를 따라가는 법과 AI 도구의 한계</a:t>
            </a:r>
            <a:endParaRPr lang="en-US" sz="1400" dirty="0"/>
          </a:p>
        </p:txBody>
      </p:sp>
      <p:sp>
        <p:nvSpPr>
          <p:cNvPr id="8" name="아래 구분선"/>
          <p:cNvSpPr/>
          <p:nvPr/>
        </p:nvSpPr>
        <p:spPr>
          <a:xfrm>
            <a:off x="1828800" y="3904488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걱정되는 일이 있거나 도움이 필요하면 담임 · 보건 · 상담 선생님께 편하게 말해요.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오색렌즈 리포트">
  <a:themeElements>
    <a:clrScheme name="오색렌즈 리포트">
      <a:dk1>
        <a:srgbClr val="333333"/>
      </a:dk1>
      <a:lt1>
        <a:srgbClr val="FFFFFF"/>
      </a:lt1>
      <a:dk2>
        <a:srgbClr val="555555"/>
      </a:dk2>
      <a:lt2>
        <a:srgbClr val="F3F3F3"/>
      </a:lt2>
      <a:accent1>
        <a:srgbClr val="FF6B35"/>
      </a:accent1>
      <a:accent2>
        <a:srgbClr val="FF9E7A"/>
      </a:accent2>
      <a:accent3>
        <a:srgbClr val="FDEBE1"/>
      </a:accent3>
      <a:accent4>
        <a:srgbClr val="7FB0FF"/>
      </a:accent4>
      <a:accent5>
        <a:srgbClr val="777777"/>
      </a:accent5>
      <a:accent6>
        <a:srgbClr val="C9C9C9"/>
      </a:accent6>
      <a:hlink>
        <a:srgbClr val="FF6B35"/>
      </a:hlink>
      <a:folHlink>
        <a:srgbClr val="777777"/>
      </a:folHlink>
    </a:clrScheme>
    <a:fontScheme name="오색렌즈 리포트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유해정보 리터러시 1차시</dc:title>
  <dc:subject>PptxGenJS Presentation</dc:subject>
  <dc:creator>오색렌즈 교사연구회</dc:creator>
  <cp:lastModifiedBy>오색렌즈 교사연구회</cp:lastModifiedBy>
  <cp:revision>1</cp:revision>
  <dcterms:created xsi:type="dcterms:W3CDTF">2026-10-12T05:14:40Z</dcterms:created>
  <dcterms:modified xsi:type="dcterms:W3CDTF">2026-10-12T05:14:40Z</dcterms:modified>
</cp:coreProperties>
</file>