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6bfa97a-1c46-e3db-4859-3d7612d487d1}">
          <p14:sldIdLst>
            <p14:sldId id="256"/>
          </p14:sldIdLst>
        </p14:section>
        <p14:section name="도입" id="{3925f3d3-7fb8-6a1d-7212-dc37db2f93b6}">
          <p14:sldIdLst>
            <p14:sldId id="257"/>
            <p14:sldId id="258"/>
            <p14:sldId id="259"/>
          </p14:sldIdLst>
        </p14:section>
        <p14:section name="전개" id="{08bd3a55-ec5c-fceb-94aa-4fcbe318f8d1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정리" id="{2251b1d1-acee-6241-6f77-6b9fd476ee5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지난 시간 체크리스트를 떠올리는 장으로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1분 30초). 1차시에 만든 우리 반 정보 체크리스트(5문)를 함께 읽으며 지난 시간을 떠올립니다.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2분 30초). 활동지 1쪽 활동 1. 모두 재구성한 가상 사례이며 실제 기관·자료명이 아닙니다(○○ 표기). 교사 참고: A는 따라갈 단서가 없고, B는 이름은 있으나 확인이 필요하며, C는 자료 이름과 작성일이 있어 따라갈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(3분). 학생 의견을 바탕으로 학습문제를 제시하고 학습목표를 확인합니다. 출처가 있느냐가 아니라 출처를 따라가 확인하는 과정에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(5분). 활동지 1쪽의 3단계 빈칸을 함께 채웁니다(만든 사람·기관과 날짜 / 원래 / 다른). 1차시 정보 라(영상 후기)의 협찬 표시를 따라가는 과정을 시연합니다. 원래 자료를 찾는 곳(도서관 자료 검색, 기관 누리집, 믿을 만한 다른 자료)을 안내하되 특정 사이트 주소는 제시하지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(9분). 모둠(4명)별로 서로 다른 세트를 나눠 줍니다. 순회하며 “어느 단계에서 막혔나요?”를 묻습니다. 교사 참고(발표 전에 알려 주지 않음): 세트 1 추적 불가(단서 없음), 세트 2 추적 불가(자료를 찾을 수 없음), 세트 3 내용 불일치(원문은 정해진 양을 넘기면 불편할 수 있다고 함), 세트 4 추적 성공·내용 일치(그래도 다른 자료와 견주기 권장). 원문 카드는 모두 재구성한 가상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(4분). 모둠별로 판정과 결정적 단서를 한 문장씩 발표하고, 4개 세트의 결과를 칠판 표로 정리합니다. 출처가 적혀 있어도 찾을 수 없음 또는 내용이 다름일 수 있음을 확인하고 1차시의 3단계 판단과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(8분 중 약 3분). 활동지 3쪽 활동 3. 이 AI 답변은 수업용으로 만든 가상 사례이며 실제 AI 출력이 아님을 밝힙니다(원하면 학교에서 허용한 도구의 실제 답변으로 바꿔 쓸 수 있습니다). 특정 AI 서비스명은 제시하지 않습니다. 출처 3개를 학생이 확인하는 시간을 준 뒤 다음 장에서 결과를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4. 교사 참고(가상 사례의 설정): ① 해당 자료를 찾을 수 없음, ② 자료는 있으나 원문에는 정해진 양을 넘기지 말라고 되어 있음, ③ 원문과 같은 내용. 활동지 3쪽 표에 학생이 결과를 체크합니다.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정리. 활동지 3쪽의 AI 활용 3원칙 빈칸(물어봐요 / 열어 / 다른)을 함께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(5분). 활동지 3쪽 활동 4. 학생들의 표현을 반영해 우리 반 문구로 확정합니다. 위 문구는 예시이며 학생 의견이 우선입니다. 새 문항을 늘리지 않고 기존 5문을 구체화하는 방향으로 보완합니다.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(5분). 개인 활동. 교사 참고: 출처 확인 전까지 추가 확인 필요가 자연스러운 판단입니다(㉡ 원래 자료 열어 보기를 먼저 고르는 경우가 많음). 정답 하나를 요구하기보다 근거의 타당성을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(2분). 활동지 4쪽의 “AI 답변이나 인터넷 정보를 받으면 내가 가장 먼저 할 일은 ____이다. 그 이유는 ____이다.”를 작성합니다. 다음 차시(기술+사서)는 알고리즘 관점에서 “왜 이 정보가 내게 떴을까?”를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출처, 따라가 보면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보일까?</a:t>
            </a:r>
            <a:endParaRPr lang="en-US" sz="56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사서 (단독 수업)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시간, 우리 반 체크리스트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강조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강조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2" name="체크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6" name="체크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0" name="강조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① 출처 · ② 근거 · ⑤ 재확인을 더 깊이 파고들어요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말, 다른 출처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Warm-up</a:t>
            </a:r>
            <a:endParaRPr lang="en-US" sz="2800" dirty="0"/>
          </a:p>
        </p:txBody>
      </p:sp>
      <p:sp>
        <p:nvSpPr>
          <p:cNvPr id="4" name="출처 카드 A"/>
          <p:cNvSpPr/>
          <p:nvPr/>
        </p:nvSpPr>
        <p:spPr>
          <a:xfrm>
            <a:off x="47548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출처 라벨 A"/>
          <p:cNvSpPr/>
          <p:nvPr/>
        </p:nvSpPr>
        <p:spPr>
          <a:xfrm>
            <a:off x="749808" y="146304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“전문가들이 말합니다!”</a:t>
            </a:r>
            <a:endParaRPr lang="en-US" sz="1600" dirty="0"/>
          </a:p>
        </p:txBody>
      </p:sp>
      <p:sp>
        <p:nvSpPr>
          <p:cNvPr id="8" name="출처 카드 B"/>
          <p:cNvSpPr/>
          <p:nvPr/>
        </p:nvSpPr>
        <p:spPr>
          <a:xfrm>
            <a:off x="326440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출처 라벨 B"/>
          <p:cNvSpPr/>
          <p:nvPr/>
        </p:nvSpPr>
        <p:spPr>
          <a:xfrm>
            <a:off x="3538728" y="146304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“○○건강연구원 2023 보고서에 따르면 …”</a:t>
            </a:r>
            <a:endParaRPr lang="en-US" sz="1600" dirty="0"/>
          </a:p>
        </p:txBody>
      </p:sp>
      <p:sp>
        <p:nvSpPr>
          <p:cNvPr id="12" name="출처 카드 C"/>
          <p:cNvSpPr/>
          <p:nvPr/>
        </p:nvSpPr>
        <p:spPr>
          <a:xfrm>
            <a:off x="605332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출처 라벨 C"/>
          <p:cNvSpPr/>
          <p:nvPr/>
        </p:nvSpPr>
        <p:spPr>
          <a:xfrm>
            <a:off x="6327648" y="146304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“공공기관 건강 안내, 2026. 9.”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(자료 이름과 작성일 표시)</a:t>
            </a:r>
            <a:endParaRPr lang="en-US" sz="1600" dirty="0"/>
          </a:p>
        </p:txBody>
      </p:sp>
      <p:sp>
        <p:nvSpPr>
          <p:cNvPr id="16" name="발문 카드"/>
          <p:cNvSpPr/>
          <p:nvPr/>
        </p:nvSpPr>
        <p:spPr>
          <a:xfrm>
            <a:off x="475488" y="3291840"/>
            <a:ext cx="8193024" cy="1143000"/>
          </a:xfrm>
          <a:prstGeom prst="roundRect">
            <a:avLst>
              <a:gd name="adj" fmla="val 96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발문 라벨"/>
          <p:cNvSpPr/>
          <p:nvPr/>
        </p:nvSpPr>
        <p:spPr>
          <a:xfrm>
            <a:off x="731520" y="34564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찾아볼 수 있는 출처는 어느 것일까요?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적혀 있으면 믿어도 될까요?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출처는 어떻게 따라가 확인하고,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준 정보는 어떻게 확인할까?</a:t>
            </a:r>
            <a:endParaRPr lang="en-US" sz="28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따라가기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3단계로 따라가며 확인해요.</a:t>
            </a:r>
            <a:endParaRPr lang="en-US" sz="15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답변이 틀릴 수 있는 이유를 설명해요.</a:t>
            </a:r>
            <a:endParaRPr lang="en-US" sz="15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보완하기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체크리스트를 더 구체적으로 고쳐요.</a:t>
            </a:r>
            <a:endParaRPr lang="en-US" sz="15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따라가기 3단계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Follow the Source</a:t>
            </a:r>
            <a:endParaRPr lang="en-US" sz="2800" dirty="0"/>
          </a:p>
        </p:txBody>
      </p:sp>
      <p:sp>
        <p:nvSpPr>
          <p:cNvPr id="4" name="단계 카드 1"/>
          <p:cNvSpPr/>
          <p:nvPr/>
        </p:nvSpPr>
        <p:spPr>
          <a:xfrm>
            <a:off x="47548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 찾기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사람·기관과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날짜가 보이나?</a:t>
            </a:r>
            <a:endParaRPr lang="en-US" sz="1300" dirty="0"/>
          </a:p>
        </p:txBody>
      </p:sp>
      <p:sp>
        <p:nvSpPr>
          <p:cNvPr id="8" name="단계 카드 2"/>
          <p:cNvSpPr/>
          <p:nvPr/>
        </p:nvSpPr>
        <p:spPr>
          <a:xfrm>
            <a:off x="326440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자료 열어 보기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가리키는 자료를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찾아 직접 열어 봐요</a:t>
            </a:r>
            <a:endParaRPr lang="en-US" sz="1300" dirty="0"/>
          </a:p>
        </p:txBody>
      </p:sp>
      <p:sp>
        <p:nvSpPr>
          <p:cNvPr id="12" name="단계 카드 3"/>
          <p:cNvSpPr/>
          <p:nvPr/>
        </p:nvSpPr>
        <p:spPr>
          <a:xfrm>
            <a:off x="605332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자료와 견주기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만한 다른 자료와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내용인지 봐요</a:t>
            </a:r>
            <a:endParaRPr lang="en-US" sz="1300" dirty="0"/>
          </a:p>
        </p:txBody>
      </p:sp>
      <p:sp>
        <p:nvSpPr>
          <p:cNvPr id="16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적혀 있는 것과, 출처를 확인한 것은 달라요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추적 미션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Group Mission</a:t>
            </a:r>
            <a:endParaRPr lang="en-US" sz="2800" dirty="0"/>
          </a:p>
        </p:txBody>
      </p:sp>
      <p:sp>
        <p:nvSpPr>
          <p:cNvPr id="4" name="세트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카드 + 원문 카드</a:t>
            </a:r>
            <a:endParaRPr lang="en-US" sz="1600" dirty="0"/>
          </a:p>
        </p:txBody>
      </p:sp>
      <p:sp>
        <p:nvSpPr>
          <p:cNvPr id="7" name="세트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카드 + 원문 카드</a:t>
            </a:r>
            <a:endParaRPr lang="en-US" sz="1600" dirty="0"/>
          </a:p>
        </p:txBody>
      </p:sp>
      <p:sp>
        <p:nvSpPr>
          <p:cNvPr id="10" name="세트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카드 + 원문 카드</a:t>
            </a:r>
            <a:endParaRPr lang="en-US" sz="1600" dirty="0"/>
          </a:p>
        </p:txBody>
      </p:sp>
      <p:sp>
        <p:nvSpPr>
          <p:cNvPr id="13" name="세트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카드 + 원문 카드</a:t>
            </a:r>
            <a:endParaRPr lang="en-US" sz="1600" dirty="0"/>
          </a:p>
        </p:txBody>
      </p:sp>
      <p:sp>
        <p:nvSpPr>
          <p:cNvPr id="16" name="미션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미션 라벨"/>
          <p:cNvSpPr/>
          <p:nvPr/>
        </p:nvSpPr>
        <p:spPr>
          <a:xfrm>
            <a:off x="546811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카드의 출처를 3단계로 따라가요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카드와 견주어 다른 부분에 밑줄을 그어요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판정을 하나 고르고, 결정적 단서를 한 줄로 써요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 · 모둠 활동지(활동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결과는 세 가지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Results</a:t>
            </a:r>
            <a:endParaRPr lang="en-US" sz="2800" dirty="0"/>
          </a:p>
        </p:txBody>
      </p:sp>
      <p:sp>
        <p:nvSpPr>
          <p:cNvPr id="4" name="결과 카드 1"/>
          <p:cNvSpPr/>
          <p:nvPr/>
        </p:nvSpPr>
        <p:spPr>
          <a:xfrm>
            <a:off x="475488" y="1234440"/>
            <a:ext cx="2615184" cy="1645920"/>
          </a:xfrm>
          <a:prstGeom prst="roundRect">
            <a:avLst>
              <a:gd name="adj" fmla="val 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3716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성공 · 내용 일치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01168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찾았고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내용도 같아요</a:t>
            </a:r>
            <a:endParaRPr lang="en-US" sz="1400" dirty="0"/>
          </a:p>
        </p:txBody>
      </p:sp>
      <p:sp>
        <p:nvSpPr>
          <p:cNvPr id="7" name="결과 카드 2"/>
          <p:cNvSpPr/>
          <p:nvPr/>
        </p:nvSpPr>
        <p:spPr>
          <a:xfrm>
            <a:off x="3264408" y="1234440"/>
            <a:ext cx="2615184" cy="1645920"/>
          </a:xfrm>
          <a:prstGeom prst="roundRect">
            <a:avLst>
              <a:gd name="adj" fmla="val 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3716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불가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201168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찾을 수 없어요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(확인되지 않음)</a:t>
            </a:r>
            <a:endParaRPr lang="en-US" sz="1400" dirty="0"/>
          </a:p>
        </p:txBody>
      </p:sp>
      <p:sp>
        <p:nvSpPr>
          <p:cNvPr id="10" name="결과 카드 3"/>
          <p:cNvSpPr/>
          <p:nvPr/>
        </p:nvSpPr>
        <p:spPr>
          <a:xfrm>
            <a:off x="6053328" y="1234440"/>
            <a:ext cx="2615184" cy="1645920"/>
          </a:xfrm>
          <a:prstGeom prst="roundRect">
            <a:avLst>
              <a:gd name="adj" fmla="val 6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53328" y="13716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 불일치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190488" y="201168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찾았는데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내용이 달라요</a:t>
            </a:r>
            <a:endParaRPr lang="en-US" sz="1400" dirty="0"/>
          </a:p>
        </p:txBody>
      </p:sp>
      <p:sp>
        <p:nvSpPr>
          <p:cNvPr id="13" name="연결 카드"/>
          <p:cNvSpPr/>
          <p:nvPr/>
        </p:nvSpPr>
        <p:spPr>
          <a:xfrm>
            <a:off x="475488" y="3108960"/>
            <a:ext cx="8193024" cy="1280160"/>
          </a:xfrm>
          <a:prstGeom prst="roundRect">
            <a:avLst>
              <a:gd name="adj" fmla="val 8571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연결 라벨"/>
          <p:cNvSpPr/>
          <p:nvPr/>
        </p:nvSpPr>
        <p:spPr>
          <a:xfrm>
            <a:off x="731520" y="327355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735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1차시와 연결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576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불가 · 내용 불일치  →  추가 확인 필요 또는 위험·행동 보류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불가는 “가짜 확정”이 아니라 “확인되지 않음”이에요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답변의 출처도 따라가 볼까?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AI Answer</a:t>
            </a:r>
            <a:endParaRPr lang="en-US" sz="2800" dirty="0"/>
          </a:p>
        </p:txBody>
      </p:sp>
      <p:sp>
        <p:nvSpPr>
          <p:cNvPr id="4" name="AI 답변 카드"/>
          <p:cNvSpPr/>
          <p:nvPr/>
        </p:nvSpPr>
        <p:spPr>
          <a:xfrm>
            <a:off x="475488" y="1188720"/>
            <a:ext cx="8193024" cy="3246120"/>
          </a:xfrm>
          <a:prstGeom prst="roundRect">
            <a:avLst>
              <a:gd name="adj" fmla="val 394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AI 라벨"/>
          <p:cNvSpPr/>
          <p:nvPr/>
        </p:nvSpPr>
        <p:spPr>
          <a:xfrm>
            <a:off x="731520" y="1371600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가상 AI 답변 (실제 AI 출력이 아니에요)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 키 크는 데 도움이 되는 영양제를 알려 줘.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영양제를 먹으면 키가 쑥쑥 자란다는 사실이 증명되었어요.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[출처: ○○학회, 2022]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718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3번 먹을수록 효과가 커져요.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[출처: ○○연구원, 2023 보고서]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118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 잡힌 식사와 수면도 성장에 중요해요.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[출처: 공공기관 건강 안내 자료, 2025. 10.]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확인해 봤더니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 Result</a:t>
            </a:r>
            <a:endParaRPr lang="en-US" sz="2800" dirty="0"/>
          </a:p>
        </p:txBody>
      </p:sp>
      <p:sp>
        <p:nvSpPr>
          <p:cNvPr id="4" name="결과 행 1"/>
          <p:cNvSpPr/>
          <p:nvPr/>
        </p:nvSpPr>
        <p:spPr>
          <a:xfrm>
            <a:off x="475488" y="1188720"/>
            <a:ext cx="819302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○○학회, 2022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1887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찾을 수 없어요</a:t>
            </a:r>
            <a:endParaRPr lang="en-US" sz="1600" dirty="0"/>
          </a:p>
        </p:txBody>
      </p:sp>
      <p:sp>
        <p:nvSpPr>
          <p:cNvPr id="8" name="결과 행 2"/>
          <p:cNvSpPr/>
          <p:nvPr/>
        </p:nvSpPr>
        <p:spPr>
          <a:xfrm>
            <a:off x="475488" y="1965960"/>
            <a:ext cx="819302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○○연구원, 2023 보고서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9659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있지만 내용이 달라요</a:t>
            </a:r>
            <a:endParaRPr lang="en-US" sz="1600" dirty="0"/>
          </a:p>
        </p:txBody>
      </p:sp>
      <p:sp>
        <p:nvSpPr>
          <p:cNvPr id="12" name="결과 행 3"/>
          <p:cNvSpPr/>
          <p:nvPr/>
        </p:nvSpPr>
        <p:spPr>
          <a:xfrm>
            <a:off x="475488" y="2743200"/>
            <a:ext cx="819302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432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공공기관 건강 안내 자료, 2025. 10.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7432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확인됐어요</a:t>
            </a:r>
            <a:endParaRPr lang="en-US" sz="1600" dirty="0"/>
          </a:p>
        </p:txBody>
      </p:sp>
      <p:sp>
        <p:nvSpPr>
          <p:cNvPr id="16" name="설명 카드"/>
          <p:cNvSpPr/>
          <p:nvPr/>
        </p:nvSpPr>
        <p:spPr>
          <a:xfrm>
            <a:off x="475488" y="3611880"/>
            <a:ext cx="8193024" cy="868680"/>
          </a:xfrm>
          <a:prstGeom prst="roundRect">
            <a:avLst>
              <a:gd name="adj" fmla="val 1263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6118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그럴듯한 문장을 만들어 내는 도구예요. 없는 출처를 적거나, 내용을 다르게 옮길 수 있어요.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3원칙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Use AI Wisely</a:t>
            </a:r>
            <a:endParaRPr lang="en-US" sz="2800" dirty="0"/>
          </a:p>
        </p:txBody>
      </p:sp>
      <p:sp>
        <p:nvSpPr>
          <p:cNvPr id="4" name="원칙 카드 1"/>
          <p:cNvSpPr/>
          <p:nvPr/>
        </p:nvSpPr>
        <p:spPr>
          <a:xfrm>
            <a:off x="47548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물어봐요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근거가 되는 출처를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 달라고 해요</a:t>
            </a:r>
            <a:endParaRPr lang="en-US" sz="1300" dirty="0"/>
          </a:p>
        </p:txBody>
      </p:sp>
      <p:sp>
        <p:nvSpPr>
          <p:cNvPr id="8" name="원칙 카드 2"/>
          <p:cNvSpPr/>
          <p:nvPr/>
        </p:nvSpPr>
        <p:spPr>
          <a:xfrm>
            <a:off x="326440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열어 확인해요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정말 있는지,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내용이 같은지 봐요</a:t>
            </a:r>
            <a:endParaRPr lang="en-US" sz="1300" dirty="0"/>
          </a:p>
        </p:txBody>
      </p:sp>
      <p:sp>
        <p:nvSpPr>
          <p:cNvPr id="12" name="원칙 카드 3"/>
          <p:cNvSpPr/>
          <p:nvPr/>
        </p:nvSpPr>
        <p:spPr>
          <a:xfrm>
            <a:off x="605332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자료로 다시 확인해요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만한 다른 자료와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견주어 봐요</a:t>
            </a:r>
            <a:endParaRPr lang="en-US" sz="1300" dirty="0"/>
          </a:p>
        </p:txBody>
      </p:sp>
      <p:sp>
        <p:nvSpPr>
          <p:cNvPr id="16" name="핵심 카드"/>
          <p:cNvSpPr/>
          <p:nvPr/>
        </p:nvSpPr>
        <p:spPr>
          <a:xfrm>
            <a:off x="475488" y="347472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474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찾기의 출발점, 판단은 내가 해요.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77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이름·학교·연락처 같은 내 정보는 입력하지 않아요.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 보완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Checklist</a:t>
            </a:r>
            <a:endParaRPr lang="en-US" sz="2800" dirty="0"/>
          </a:p>
        </p:txBody>
      </p:sp>
      <p:sp>
        <p:nvSpPr>
          <p:cNvPr id="4" name="보완 문항 카드"/>
          <p:cNvSpPr/>
          <p:nvPr/>
        </p:nvSpPr>
        <p:spPr>
          <a:xfrm>
            <a:off x="475488" y="123444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덧붙일 문항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1차시</a:t>
            </a:r>
            <a:endParaRPr lang="en-US" sz="1200" dirty="0"/>
          </a:p>
        </p:txBody>
      </p:sp>
      <p:sp>
        <p:nvSpPr>
          <p:cNvPr id="7" name="카드 구분선 1"/>
          <p:cNvSpPr/>
          <p:nvPr/>
        </p:nvSpPr>
        <p:spPr>
          <a:xfrm>
            <a:off x="777240" y="1920240"/>
            <a:ext cx="324612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만들었나?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52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52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있나?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027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027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 확인되나?</a:t>
            </a:r>
            <a:endParaRPr lang="en-US" sz="1200" dirty="0"/>
          </a:p>
        </p:txBody>
      </p:sp>
      <p:sp>
        <p:nvSpPr>
          <p:cNvPr id="14" name="화살표"/>
          <p:cNvSpPr/>
          <p:nvPr/>
        </p:nvSpPr>
        <p:spPr>
          <a:xfrm>
            <a:off x="4462272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5" name="문구 예시 카드"/>
          <p:cNvSpPr/>
          <p:nvPr/>
        </p:nvSpPr>
        <p:spPr>
          <a:xfrm>
            <a:off x="4892040" y="1234440"/>
            <a:ext cx="377647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212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문구 예시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1200" dirty="0"/>
          </a:p>
        </p:txBody>
      </p:sp>
      <p:sp>
        <p:nvSpPr>
          <p:cNvPr id="18" name="카드 구분선 2"/>
          <p:cNvSpPr/>
          <p:nvPr/>
        </p:nvSpPr>
        <p:spPr>
          <a:xfrm>
            <a:off x="5212080" y="1920240"/>
            <a:ext cx="313639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1031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 이름이 있고, 찾아볼 수 있나?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자료를 직접 열어 확인했나?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답변도 다른 자료와 견주어 봤나?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886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문항을 늘리지 않고 구체화해요.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AI 답변,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바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바 라벨"/>
          <p:cNvSpPr/>
          <p:nvPr/>
        </p:nvSpPr>
        <p:spPr>
          <a:xfrm>
            <a:off x="777240" y="1463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 · 수업용 가상 AI 답변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음료를 마시면 시험 성적이 올라간다는 사실이 여러 연구에서 밝혀졌어요. (출처: ○○대학 연구팀, 2024)</a:t>
            </a:r>
            <a:endParaRPr lang="en-US" sz="1800" dirty="0"/>
          </a:p>
        </p:txBody>
      </p:sp>
      <p:sp>
        <p:nvSpPr>
          <p:cNvPr id="8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방법 라벨"/>
          <p:cNvSpPr/>
          <p:nvPr/>
        </p:nvSpPr>
        <p:spPr>
          <a:xfrm>
            <a:off x="5120640" y="146304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574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따라가기 3단계 중 가장 먼저 할 일을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하나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중요한 근거 한 가지를 써요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활동 · 활동지 4쪽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답변이나 인터넷 정보를 받으면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가장 먼저 할 일은?</a:t>
            </a:r>
            <a:endParaRPr lang="en-US" sz="44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기술 + 사서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정보가 내게 떴을까?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1차시</dc:title>
  <dc:subject>PptxGenJS Presentation</dc:subject>
  <dc:creator>오색렌즈 교사연구회</dc:creator>
  <cp:lastModifiedBy>오색렌즈 교사연구회</cp:lastModifiedBy>
  <cp:revision>1</cp:revision>
  <dcterms:created xsi:type="dcterms:W3CDTF">2026-10-12T05:22:27Z</dcterms:created>
  <dcterms:modified xsi:type="dcterms:W3CDTF">2026-10-12T05:22:27Z</dcterms:modified>
</cp:coreProperties>
</file>