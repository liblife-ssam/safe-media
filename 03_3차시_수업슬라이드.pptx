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6fba71b-ed2b-e324-a347-87f5d9dc6a8a}">
          <p14:sldIdLst>
            <p14:sldId id="256"/>
          </p14:sldIdLst>
        </p14:section>
        <p14:section name="도입" id="{4f9f2f7f-6e97-13f0-8f47-e4d2c95647ef}">
          <p14:sldIdLst>
            <p14:sldId id="257"/>
            <p14:sldId id="258"/>
            <p14:sldId id="259"/>
          </p14:sldIdLst>
        </p14:section>
        <p14:section name="전개" id="{1d428e30-94b6-b095-2064-2881ab906c3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정리" id="{193b74a8-d693-ac16-85b5-adb58bcaeed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지난 시간 체크리스트를 떠올리는 장으로 넘어갑니다. 오늘은 기술교사가 추천 알고리즘의 원리를, 사서교사가 정보 판단과의 연결을 맡습니다. 알고리즘 설명은 원리를 이해하기 위한 단순화 모형이며 특정 서비스를 가리키지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1분). 2차시에서 보완한 우리 반 정보 체크리스트(5문)를 함께 읽습니다. 오늘은 ③ 의도, ④ 표현, ⑤ 재확인을 알고리즘 관점으로 구체화합니다.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3분). 활동지 1쪽 활동 1. 학생에게 화면을 직접 보여 달라고 하지 않고 말로 경험을 나누게 합니다. 특정 앱·서비스명은 제시하지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(3분 중). 학생 의견을 바탕으로 학습문제를 제시하고 학습목표를 확인합니다. 알고리즘이 나쁘다고 말하는 수업이 아니라, 원리를 알고 판단하는 수업임을 밝힙니다.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(5분, 기술교사). 활동지 1쪽 4단계 빈칸을 함께 채웁니다(기록 / 점수 / 높은 / 흔적). 실제 서비스의 추천 방식은 이보다 훨씬 복잡하고 공개되지 않으므로, 이 4단계는 원리를 이해하기 위한 단순화 모형이라고 분명히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(이어서). 점수 규칙은 원리 이해를 위한 단순화 모형입니다. 시범: 가상 학생 하나의 1일차 기록을 칠판에서 함께 계산합니다(운동 2, 먹방 2, 다이어트 광고 1, 음악 -1).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(10분). 모둠(4명)별로 서로 다른 세트를 나눠 줍니다. 계산이 맞지 않으면 정답을 알려 주기보다 점수 규칙표를 다시 보게 합니다. 주제는 운동·먹방·다이어트 광고·게임·공공기관 건강 안내·음악 6가지입니다. 가상 학생과 광고는 모두 재구성한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(4분). 모둠이 발표하기 전에는 이 장을 보여 주지 않습니다. 교사 참고(점수 합계): 세트 1 다이어트 광고 8·운동 4·먹방 3·음악 -1·건강 안내 -1·게임 -1 / 세트 2 게임 7·음악 4·건강 안내 1·먹방 0·운동 -1·광고 -2 / 세트 3 먹방 7·운동 2·음악 1·광고 0·건강 안내 0·게임 -1 / 세트 4 광고 9·게임 2·음악 1·운동 -1·먹방 -1·건강 안내 -1. 학생이 광고를 믿어서가 아니라 호기심으로 오래 봤더라도 광고가 앞에 뜰 수 있음을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(7분 중 약 2분, 사서교사). 활동지 3쪽 활동 3의 빈칸을 채웁니다(본 / 정확 / 안전 / 믿을 만하다). 알고리즘이 정확성을 전혀 고려하지 않는다고 단정하지 말고, 반응 신호가 중요한 재료이며 정확성은 이용자가 따로 확인해야 한다고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4. 두 문구는 수업용 가상 사례이며 실제 제품·기관의 글이 아닙니다. 특정 제품·효능·용량은 다루지 않습니다. 정리: X는 재촉하는 표현(오늘만)과 단정이 있어 눈길을 끌지만 출처가 없고, Y는 차분하고 출처가 있으나 덜 자극적이어서 반응이 적을 수 있습니다. 그래서 자극적인 유해정보가 더 눈에 띄게 퍼질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마무리. 활동지 3쪽의 체크리스트 보완 표를 작성합니다. 위 문구는 예시이며 학생 의견이 우선입니다. 새 문항을 늘리지 않고 기존 5문을 구체화합니다.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(5분). 활동지 4쪽 활동 4. 특정 앱의 설정 메뉴 이름·위치는 말하지 않고 일반 기능어로 안내합니다. 활동지에는 여섯 가지 방법이 있으며 학생이 2가지를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(5분). 개인 활동. 교사 참고: 같은 영상을 오래 봤거나 단체대화방 영향으로 떴을 수 있고, 재촉 표현(오늘 하루만)·근거 없는 단정으로 ‘추가 확인 필요’ 또는 ‘위험·행동 보류’가 자연스러운 판단입니다. 근거가 타당하면 둘 다 인정합니다. 많은 사람이 본다는 사실을 근거로 ‘신뢰 가능’을 고르면 오늘의 핵심(떴다 ≠ 믿을 만하다)으로 되짚어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(2분). 활동지 4쪽 “내 화면에 뜬 정보를 만나면 나는 먼저 ____ 한다. 왜냐하면 ____ 이기 때문이다.”를 작성합니다. 다음 차시(기술+사서)는 도박 광고를 오늘의 틀로 분석합니다. 이 활동지의 사례는 모두 수업용 가상 사례임을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정보가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내게 떴을까?</a:t>
            </a:r>
            <a:endParaRPr lang="en-US" sz="56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+ 사서 (협력)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시간, 우리 반 체크리스트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체크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체크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2" name="강조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6" name="강조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0" name="강조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③ 의도 · ④ 표현 · ⑤ 재확인을 알고리즘 눈으로 봐요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앱, 다른 화면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Warm-up</a:t>
            </a:r>
            <a:endParaRPr lang="en-US" sz="2800" dirty="0"/>
          </a:p>
        </p:txBody>
      </p:sp>
      <p:sp>
        <p:nvSpPr>
          <p:cNvPr id="4" name="질문 카드 1"/>
          <p:cNvSpPr/>
          <p:nvPr/>
        </p:nvSpPr>
        <p:spPr>
          <a:xfrm>
            <a:off x="47548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질문 라벨 1"/>
          <p:cNvSpPr/>
          <p:nvPr/>
        </p:nvSpPr>
        <p:spPr>
          <a:xfrm>
            <a:off x="749808" y="146304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화면에 자주 뜨는 것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3가지를 떠올려 봐요</a:t>
            </a:r>
            <a:endParaRPr lang="en-US" sz="1600" dirty="0"/>
          </a:p>
        </p:txBody>
      </p:sp>
      <p:sp>
        <p:nvSpPr>
          <p:cNvPr id="8" name="질문 카드 2"/>
          <p:cNvSpPr/>
          <p:nvPr/>
        </p:nvSpPr>
        <p:spPr>
          <a:xfrm>
            <a:off x="326440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질문 라벨 2"/>
          <p:cNvSpPr/>
          <p:nvPr/>
        </p:nvSpPr>
        <p:spPr>
          <a:xfrm>
            <a:off x="3538728" y="146304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 화면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친구도 같은 것이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뜰까요?</a:t>
            </a:r>
            <a:endParaRPr lang="en-US" sz="1600" dirty="0"/>
          </a:p>
        </p:txBody>
      </p:sp>
      <p:sp>
        <p:nvSpPr>
          <p:cNvPr id="12" name="질문 카드 3"/>
          <p:cNvSpPr/>
          <p:nvPr/>
        </p:nvSpPr>
        <p:spPr>
          <a:xfrm>
            <a:off x="605332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질문 라벨 3"/>
          <p:cNvSpPr/>
          <p:nvPr/>
        </p:nvSpPr>
        <p:spPr>
          <a:xfrm>
            <a:off x="6327648" y="146304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다를까?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앱을 쓰는데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화면이 다를까요?</a:t>
            </a:r>
            <a:endParaRPr lang="en-US" sz="1600" dirty="0"/>
          </a:p>
        </p:txBody>
      </p:sp>
      <p:sp>
        <p:nvSpPr>
          <p:cNvPr id="16" name="발문 카드"/>
          <p:cNvSpPr/>
          <p:nvPr/>
        </p:nvSpPr>
        <p:spPr>
          <a:xfrm>
            <a:off x="475488" y="3291840"/>
            <a:ext cx="8193024" cy="1143000"/>
          </a:xfrm>
          <a:prstGeom prst="roundRect">
            <a:avLst>
              <a:gd name="adj" fmla="val 96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발문 라벨"/>
          <p:cNvSpPr/>
          <p:nvPr/>
        </p:nvSpPr>
        <p:spPr>
          <a:xfrm>
            <a:off x="731520" y="34564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화면에 뜬 정보는 누가, 왜 보여 주는 걸까요?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화면은 어떻게 만들어지고,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뜬 정보는 믿어도 될까?</a:t>
            </a:r>
            <a:endParaRPr lang="en-US" sz="28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추천이 만들어지는 원리를 점수로 설명해요.</a:t>
            </a:r>
            <a:endParaRPr lang="en-US" sz="15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“떴다”와 “믿을 만하다”의 차이를 말해요.</a:t>
            </a:r>
            <a:endParaRPr lang="en-US" sz="15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조종하기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화면을 스스로 점검하고 조정해요.</a:t>
            </a:r>
            <a:endParaRPr lang="en-US" sz="15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추천이 만들어지는 4단계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How It Works</a:t>
            </a:r>
            <a:endParaRPr lang="en-US" sz="2800" dirty="0"/>
          </a:p>
        </p:txBody>
      </p:sp>
      <p:sp>
        <p:nvSpPr>
          <p:cNvPr id="4" name="단계 카드 1"/>
          <p:cNvSpPr/>
          <p:nvPr/>
        </p:nvSpPr>
        <p:spPr>
          <a:xfrm>
            <a:off x="47548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흔적 모으기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본 것·누른 것·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넘긴 것이 기록으로 쌓여요</a:t>
            </a:r>
            <a:endParaRPr lang="en-US" sz="1200" dirty="0"/>
          </a:p>
        </p:txBody>
      </p:sp>
      <p:sp>
        <p:nvSpPr>
          <p:cNvPr id="8" name="단계 카드 2"/>
          <p:cNvSpPr/>
          <p:nvPr/>
        </p:nvSpPr>
        <p:spPr>
          <a:xfrm>
            <a:off x="257860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매기기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7977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행동마다 점수를 주고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주제별로 더해요</a:t>
            </a:r>
            <a:endParaRPr lang="en-US" sz="1200" dirty="0"/>
          </a:p>
        </p:txBody>
      </p:sp>
      <p:sp>
        <p:nvSpPr>
          <p:cNvPr id="12" name="단계 카드 3"/>
          <p:cNvSpPr/>
          <p:nvPr/>
        </p:nvSpPr>
        <p:spPr>
          <a:xfrm>
            <a:off x="468172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8289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8289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 정하기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점수가 높은 것부터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앞에 보여 줘요</a:t>
            </a:r>
            <a:endParaRPr lang="en-US" sz="1200" dirty="0"/>
          </a:p>
        </p:txBody>
      </p:sp>
      <p:sp>
        <p:nvSpPr>
          <p:cNvPr id="16" name="단계 카드 4"/>
          <p:cNvSpPr/>
          <p:nvPr/>
        </p:nvSpPr>
        <p:spPr>
          <a:xfrm>
            <a:off x="6784848" y="1234440"/>
            <a:ext cx="1993392" cy="22860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86016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되돌아오기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반응이 다시 흔적이 되어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종류가 더 떠요</a:t>
            </a:r>
            <a:endParaRPr lang="en-US" sz="1200" dirty="0"/>
          </a:p>
        </p:txBody>
      </p:sp>
      <p:sp>
        <p:nvSpPr>
          <p:cNvPr id="20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화면은 “내가 남긴 흔적”으로 만들어져요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규칙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Score Rules</a:t>
            </a:r>
            <a:endParaRPr lang="en-US" sz="2800" dirty="0"/>
          </a:p>
        </p:txBody>
      </p:sp>
      <p:sp>
        <p:nvSpPr>
          <p:cNvPr id="4" name="규칙 카드"/>
          <p:cNvSpPr/>
          <p:nvPr/>
        </p:nvSpPr>
        <p:spPr>
          <a:xfrm>
            <a:off x="475488" y="1188720"/>
            <a:ext cx="3931920" cy="3246120"/>
          </a:xfrm>
          <a:prstGeom prst="roundRect">
            <a:avLst>
              <a:gd name="adj" fmla="val 394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봤어요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좋아요를 눌렀어요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56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친구에게 공유했어요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27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잠깐 봤어요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127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124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건너뛰었어요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712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</a:t>
            </a:r>
            <a:endParaRPr lang="en-US" sz="2200" dirty="0"/>
          </a:p>
        </p:txBody>
      </p:sp>
      <p:sp>
        <p:nvSpPr>
          <p:cNvPr id="15" name="시범 카드"/>
          <p:cNvSpPr/>
          <p:nvPr/>
        </p:nvSpPr>
        <p:spPr>
          <a:xfrm>
            <a:off x="4663440" y="1188720"/>
            <a:ext cx="4005072" cy="3246120"/>
          </a:xfrm>
          <a:prstGeom prst="roundRect">
            <a:avLst>
              <a:gd name="adj" fmla="val 338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6" name="시범 라벨"/>
          <p:cNvSpPr/>
          <p:nvPr/>
        </p:nvSpPr>
        <p:spPr>
          <a:xfrm>
            <a:off x="4937760" y="137160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· 가상 학생 하나, 1일차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874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 — 끝까지 봄   → +2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광고 — 잠깐 봄   → +1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먹방 — 끝까지 봄   → +2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음악 — 건너뜀   → -1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 점수: 운동 2 · 먹방 2 · 광고 1 · 음악 -1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내일의 피드 만들기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Group Mission</a:t>
            </a:r>
            <a:endParaRPr lang="en-US" sz="2800" dirty="0"/>
          </a:p>
        </p:txBody>
      </p:sp>
      <p:sp>
        <p:nvSpPr>
          <p:cNvPr id="4" name="세트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학생 하나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3일치 행동 기록</a:t>
            </a:r>
            <a:endParaRPr lang="en-US" sz="1500" dirty="0"/>
          </a:p>
        </p:txBody>
      </p:sp>
      <p:sp>
        <p:nvSpPr>
          <p:cNvPr id="7" name="세트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학생 지호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3일치 행동 기록</a:t>
            </a:r>
            <a:endParaRPr lang="en-US" sz="1500" dirty="0"/>
          </a:p>
        </p:txBody>
      </p:sp>
      <p:sp>
        <p:nvSpPr>
          <p:cNvPr id="10" name="세트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학생 서연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3일치 행동 기록</a:t>
            </a:r>
            <a:endParaRPr lang="en-US" sz="1500" dirty="0"/>
          </a:p>
        </p:txBody>
      </p:sp>
      <p:sp>
        <p:nvSpPr>
          <p:cNvPr id="13" name="세트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학생 도윤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3일치 행동 기록</a:t>
            </a:r>
            <a:endParaRPr lang="en-US" sz="1500" dirty="0"/>
          </a:p>
        </p:txBody>
      </p:sp>
      <p:sp>
        <p:nvSpPr>
          <p:cNvPr id="16" name="미션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미션 라벨"/>
          <p:cNvSpPr/>
          <p:nvPr/>
        </p:nvSpPr>
        <p:spPr>
          <a:xfrm>
            <a:off x="546811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행동마다 점수를 매겨 주제별로 더해요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높은 3개가 내일 피드예요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학생은 광고를 믿어서 오래 본 걸까요?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· 모둠 활동지(활동 2)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앱, 네 개의 피드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Results</a:t>
            </a:r>
            <a:endParaRPr lang="en-US" sz="2800" dirty="0"/>
          </a:p>
        </p:txBody>
      </p:sp>
      <p:sp>
        <p:nvSpPr>
          <p:cNvPr id="4" name="결과 행 1"/>
          <p:cNvSpPr/>
          <p:nvPr/>
        </p:nvSpPr>
        <p:spPr>
          <a:xfrm>
            <a:off x="475488" y="1188720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 · 하나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18872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광고 8 · 운동 4 · 먹방 3</a:t>
            </a:r>
            <a:endParaRPr lang="en-US" sz="1500" dirty="0"/>
          </a:p>
        </p:txBody>
      </p:sp>
      <p:sp>
        <p:nvSpPr>
          <p:cNvPr id="7" name="결과 행 2"/>
          <p:cNvSpPr/>
          <p:nvPr/>
        </p:nvSpPr>
        <p:spPr>
          <a:xfrm>
            <a:off x="475488" y="1810512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105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 · 지호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81051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7 · 음악 4 · 공공기관 건강 안내 1</a:t>
            </a:r>
            <a:endParaRPr lang="en-US" sz="1500" dirty="0"/>
          </a:p>
        </p:txBody>
      </p:sp>
      <p:sp>
        <p:nvSpPr>
          <p:cNvPr id="10" name="결과 행 3"/>
          <p:cNvSpPr/>
          <p:nvPr/>
        </p:nvSpPr>
        <p:spPr>
          <a:xfrm>
            <a:off x="475488" y="2432304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323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 · 서연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43230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먹방 7 · 운동 2 · 음악 1</a:t>
            </a:r>
            <a:endParaRPr lang="en-US" sz="1500" dirty="0"/>
          </a:p>
        </p:txBody>
      </p:sp>
      <p:sp>
        <p:nvSpPr>
          <p:cNvPr id="13" name="결과 행 4"/>
          <p:cNvSpPr/>
          <p:nvPr/>
        </p:nvSpPr>
        <p:spPr>
          <a:xfrm>
            <a:off x="475488" y="3054096"/>
            <a:ext cx="81930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540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 · 도윤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05409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광고 9 · 게임 2 · 음악 1</a:t>
            </a:r>
            <a:endParaRPr lang="en-US" sz="1500" dirty="0"/>
          </a:p>
        </p:txBody>
      </p:sp>
      <p:sp>
        <p:nvSpPr>
          <p:cNvPr id="16" name="정리 카드"/>
          <p:cNvSpPr/>
          <p:nvPr/>
        </p:nvSpPr>
        <p:spPr>
          <a:xfrm>
            <a:off x="475488" y="3703320"/>
            <a:ext cx="8193024" cy="777240"/>
          </a:xfrm>
          <a:prstGeom prst="roundRect">
            <a:avLst>
              <a:gd name="adj" fmla="val 1411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반응한 것이 같은 종류를 불러요. 광고에 반응하지 않은 학생에게만 건강 안내가 올라왔어요.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떴다 ≠ 믿을 만하다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Seen vs Trusted</a:t>
            </a:r>
            <a:endParaRPr lang="en-US" sz="2800" dirty="0"/>
          </a:p>
        </p:txBody>
      </p:sp>
      <p:sp>
        <p:nvSpPr>
          <p:cNvPr id="4" name="보는 것 카드"/>
          <p:cNvSpPr/>
          <p:nvPr/>
        </p:nvSpPr>
        <p:spPr>
          <a:xfrm>
            <a:off x="475488" y="1234440"/>
            <a:ext cx="3931920" cy="2194560"/>
          </a:xfrm>
          <a:prstGeom prst="roundRect">
            <a:avLst>
              <a:gd name="adj" fmla="val 58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보는 것 라벨"/>
          <p:cNvSpPr/>
          <p:nvPr/>
        </p:nvSpPr>
        <p:spPr>
          <a:xfrm>
            <a:off x="731520" y="14173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알고리즘이 보는 것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오래 봤나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 · 공유 · 건너뜀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반응이 많은가</a:t>
            </a:r>
            <a:endParaRPr lang="en-US" sz="1600" dirty="0"/>
          </a:p>
        </p:txBody>
      </p:sp>
      <p:sp>
        <p:nvSpPr>
          <p:cNvPr id="8" name="못 보는 것 카드"/>
          <p:cNvSpPr/>
          <p:nvPr/>
        </p:nvSpPr>
        <p:spPr>
          <a:xfrm>
            <a:off x="4736592" y="1234440"/>
            <a:ext cx="39319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22225">
            <a:solidFill>
              <a:srgbClr val="FF6B35"/>
            </a:solidFill>
            <a:prstDash val="solid"/>
          </a:ln>
        </p:spPr>
      </p:sp>
      <p:sp>
        <p:nvSpPr>
          <p:cNvPr id="9" name="못 보는 것 라벨"/>
          <p:cNvSpPr/>
          <p:nvPr/>
        </p:nvSpPr>
        <p:spPr>
          <a:xfrm>
            <a:off x="4992624" y="14173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2624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보기 어려운 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정보가 정확한가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나에게 안전한가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있는가</a:t>
            </a:r>
            <a:endParaRPr lang="en-US" sz="1600" dirty="0"/>
          </a:p>
        </p:txBody>
      </p:sp>
      <p:sp>
        <p:nvSpPr>
          <p:cNvPr id="12" name="결론 배너"/>
          <p:cNvSpPr/>
          <p:nvPr/>
        </p:nvSpPr>
        <p:spPr>
          <a:xfrm>
            <a:off x="475488" y="3657600"/>
            <a:ext cx="8193024" cy="777240"/>
          </a:xfrm>
          <a:prstGeom prst="roundRect">
            <a:avLst>
              <a:gd name="adj" fmla="val 1176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3657600"/>
            <a:ext cx="819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떴다는 것은 “반응이 많았다”는 뜻일 뿐이에요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눈길을 끄는 말, 믿을 만한 말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Two Messages</a:t>
            </a:r>
            <a:endParaRPr lang="en-US" sz="2800" dirty="0"/>
          </a:p>
        </p:txBody>
      </p:sp>
      <p:sp>
        <p:nvSpPr>
          <p:cNvPr id="4" name="광고 X 카드"/>
          <p:cNvSpPr/>
          <p:nvPr/>
        </p:nvSpPr>
        <p:spPr>
          <a:xfrm>
            <a:off x="475488" y="1188720"/>
            <a:ext cx="3931920" cy="2103120"/>
          </a:xfrm>
          <a:prstGeom prst="roundRect">
            <a:avLst>
              <a:gd name="adj" fmla="val 608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광고 라벨"/>
          <p:cNvSpPr/>
          <p:nvPr/>
        </p:nvSpPr>
        <p:spPr>
          <a:xfrm>
            <a:off x="731520" y="137160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X · 수업용 가상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“일주일 만에 확 빠져요!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오늘만 이 가격!”</a:t>
            </a:r>
            <a:endParaRPr lang="en-US" sz="2000" dirty="0"/>
          </a:p>
        </p:txBody>
      </p:sp>
      <p:sp>
        <p:nvSpPr>
          <p:cNvPr id="8" name="안내 Y 카드"/>
          <p:cNvSpPr/>
          <p:nvPr/>
        </p:nvSpPr>
        <p:spPr>
          <a:xfrm>
            <a:off x="4736592" y="1188720"/>
            <a:ext cx="3931920" cy="2103120"/>
          </a:xfrm>
          <a:prstGeom prst="roundRect">
            <a:avLst>
              <a:gd name="adj" fmla="val 608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안내 라벨"/>
          <p:cNvSpPr/>
          <p:nvPr/>
        </p:nvSpPr>
        <p:spPr>
          <a:xfrm>
            <a:off x="4992624" y="137160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2624" y="1371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Y · 수업용 가상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874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“규칙적인 식사와 움직임이 건강한 몸 관리에 도움이 될 수 있어요.” (공공기관 건강 안내 자료, 2026. 9.)</a:t>
            </a:r>
            <a:endParaRPr lang="en-US" sz="1500" dirty="0"/>
          </a:p>
        </p:txBody>
      </p:sp>
      <p:sp>
        <p:nvSpPr>
          <p:cNvPr id="12" name="발문 카드"/>
          <p:cNvSpPr/>
          <p:nvPr/>
        </p:nvSpPr>
        <p:spPr>
          <a:xfrm>
            <a:off x="475488" y="3520440"/>
            <a:ext cx="8193024" cy="914400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쪽이 더 눈길을 끌고 반응을 얻기 쉬울까요?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의도 · ④ 표현 · ⑤ 재확인으로 보면 어떨까요?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 보완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Checklist</a:t>
            </a:r>
            <a:endParaRPr lang="en-US" sz="2800" dirty="0"/>
          </a:p>
        </p:txBody>
      </p:sp>
      <p:sp>
        <p:nvSpPr>
          <p:cNvPr id="4" name="보완 문항 카드"/>
          <p:cNvSpPr/>
          <p:nvPr/>
        </p:nvSpPr>
        <p:spPr>
          <a:xfrm>
            <a:off x="475488" y="123444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덧붙일 문항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2차시 보완본</a:t>
            </a:r>
            <a:endParaRPr lang="en-US" sz="1200" dirty="0"/>
          </a:p>
        </p:txBody>
      </p:sp>
      <p:sp>
        <p:nvSpPr>
          <p:cNvPr id="7" name="카드 구분선 1"/>
          <p:cNvSpPr/>
          <p:nvPr/>
        </p:nvSpPr>
        <p:spPr>
          <a:xfrm>
            <a:off x="777240" y="1920240"/>
            <a:ext cx="324612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원하나?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52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52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말하고 있나?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027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027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 확인되나?</a:t>
            </a:r>
            <a:endParaRPr lang="en-US" sz="1200" dirty="0"/>
          </a:p>
        </p:txBody>
      </p:sp>
      <p:sp>
        <p:nvSpPr>
          <p:cNvPr id="14" name="화살표"/>
          <p:cNvSpPr/>
          <p:nvPr/>
        </p:nvSpPr>
        <p:spPr>
          <a:xfrm>
            <a:off x="4462272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5" name="문구 예시 카드"/>
          <p:cNvSpPr/>
          <p:nvPr/>
        </p:nvSpPr>
        <p:spPr>
          <a:xfrm>
            <a:off x="4892040" y="1234440"/>
            <a:ext cx="377647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212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문구 예시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1200" dirty="0"/>
          </a:p>
        </p:txBody>
      </p:sp>
      <p:sp>
        <p:nvSpPr>
          <p:cNvPr id="18" name="카드 구분선 2"/>
          <p:cNvSpPr/>
          <p:nvPr/>
        </p:nvSpPr>
        <p:spPr>
          <a:xfrm>
            <a:off x="5212080" y="1920240"/>
            <a:ext cx="313639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1031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반응하길 바라는 사람은 누구일까?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재촉·자극하는 말로 반응을 끌고 있나?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떴다는 말 말고 다른 확인이 있나?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886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문항을 늘리지 않고 구체화해요.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화면, 내가 조종해요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My Feed</a:t>
            </a:r>
            <a:endParaRPr lang="en-US" sz="2800" dirty="0"/>
          </a:p>
        </p:txBody>
      </p:sp>
      <p:sp>
        <p:nvSpPr>
          <p:cNvPr id="4" name="조종 카드 1"/>
          <p:cNvSpPr/>
          <p:nvPr/>
        </p:nvSpPr>
        <p:spPr>
          <a:xfrm>
            <a:off x="47548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없음·넘기기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보지 않고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넘기면 점수가 낮아져요</a:t>
            </a:r>
            <a:endParaRPr lang="en-US" sz="1300" dirty="0"/>
          </a:p>
        </p:txBody>
      </p:sp>
      <p:sp>
        <p:nvSpPr>
          <p:cNvPr id="8" name="조종 카드 2"/>
          <p:cNvSpPr/>
          <p:nvPr/>
        </p:nvSpPr>
        <p:spPr>
          <a:xfrm>
            <a:off x="326440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찾아보기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궁금하면 검색해서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자료를 찾아요</a:t>
            </a:r>
            <a:endParaRPr lang="en-US" sz="1300" dirty="0"/>
          </a:p>
        </p:txBody>
      </p:sp>
      <p:sp>
        <p:nvSpPr>
          <p:cNvPr id="12" name="조종 카드 3"/>
          <p:cNvSpPr/>
          <p:nvPr/>
        </p:nvSpPr>
        <p:spPr>
          <a:xfrm>
            <a:off x="6053328" y="1234440"/>
            <a:ext cx="261518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비교하고 알리기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친구와 화면을 비교하고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걱정되면 어른께 알려요</a:t>
            </a:r>
            <a:endParaRPr lang="en-US" sz="1300" dirty="0"/>
          </a:p>
        </p:txBody>
      </p:sp>
      <p:sp>
        <p:nvSpPr>
          <p:cNvPr id="16" name="실천 카드"/>
          <p:cNvSpPr/>
          <p:nvPr/>
        </p:nvSpPr>
        <p:spPr>
          <a:xfrm>
            <a:off x="475488" y="347472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474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실천할 2가지를 고르고 이유를 한 줄로 써요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77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· 활동지(활동 4)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사례,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사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사 라벨"/>
          <p:cNvSpPr/>
          <p:nvPr/>
        </p:nvSpPr>
        <p:spPr>
          <a:xfrm>
            <a:off x="777240" y="1463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 · 수업용 가상 사례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단체대화방에서 “요즘 다 먹는다”는 살 빼는 차 영상이 내 화면에도 계속 떠요. “나는 이거 하나로 달라졌어요! 오늘 하루만 할인!”</a:t>
            </a:r>
            <a:endParaRPr lang="en-US" sz="1600" dirty="0"/>
          </a:p>
        </p:txBody>
      </p:sp>
      <p:sp>
        <p:nvSpPr>
          <p:cNvPr id="8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방법 라벨"/>
          <p:cNvSpPr/>
          <p:nvPr/>
        </p:nvSpPr>
        <p:spPr>
          <a:xfrm>
            <a:off x="5120640" y="146304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574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내게 떴을지 행동 기록으로 써요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하나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중요한 근거 한 가지를 써요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활동 · 활동지 4쪽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화면에 뜬 정보를 만나면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먼저 무엇을 할까?</a:t>
            </a:r>
            <a:endParaRPr lang="en-US" sz="44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기술 + 사서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도박 광고, 어떻게 따라가 볼까?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3차시</dc:title>
  <dc:subject>PptxGenJS Presentation</dc:subject>
  <dc:creator>오색렌즈 교사연구회</dc:creator>
  <cp:lastModifiedBy>오색렌즈 교사연구회</cp:lastModifiedBy>
  <cp:revision>1</cp:revision>
  <dcterms:created xsi:type="dcterms:W3CDTF">2026-10-12T05:51:54Z</dcterms:created>
  <dcterms:modified xsi:type="dcterms:W3CDTF">2026-10-12T05:51:54Z</dcterms:modified>
</cp:coreProperties>
</file>